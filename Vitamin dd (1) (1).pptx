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4654" r:id="rId1"/>
  </p:sldMasterIdLst>
  <p:notesMasterIdLst>
    <p:notesMasterId r:id="rId23"/>
  </p:notesMasterIdLst>
  <p:sldIdLst>
    <p:sldId id="285" r:id="rId2"/>
    <p:sldId id="281" r:id="rId3"/>
    <p:sldId id="258" r:id="rId4"/>
    <p:sldId id="259" r:id="rId5"/>
    <p:sldId id="260" r:id="rId6"/>
    <p:sldId id="303" r:id="rId7"/>
    <p:sldId id="261" r:id="rId8"/>
    <p:sldId id="304" r:id="rId9"/>
    <p:sldId id="290" r:id="rId10"/>
    <p:sldId id="314" r:id="rId11"/>
    <p:sldId id="315" r:id="rId12"/>
    <p:sldId id="320" r:id="rId13"/>
    <p:sldId id="321" r:id="rId14"/>
    <p:sldId id="322" r:id="rId15"/>
    <p:sldId id="323" r:id="rId16"/>
    <p:sldId id="312" r:id="rId17"/>
    <p:sldId id="316" r:id="rId18"/>
    <p:sldId id="319" r:id="rId19"/>
    <p:sldId id="317" r:id="rId20"/>
    <p:sldId id="318" r:id="rId21"/>
    <p:sldId id="26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486CD2-96AA-40F1-94B1-15E895BBB0D9}" v="6" dt="2026-04-02T03:29:58.2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5033" autoAdjust="0"/>
  </p:normalViewPr>
  <p:slideViewPr>
    <p:cSldViewPr snapToGrid="0">
      <p:cViewPr>
        <p:scale>
          <a:sx n="91" d="100"/>
          <a:sy n="91" d="100"/>
        </p:scale>
        <p:origin x="571" y="-120"/>
      </p:cViewPr>
      <p:guideLst>
        <p:guide orient="horz" pos="2160"/>
        <p:guide pos="3840"/>
      </p:guideLst>
    </p:cSldViewPr>
  </p:slideViewPr>
  <p:notesTextViewPr>
    <p:cViewPr>
      <p:scale>
        <a:sx n="1" d="1"/>
        <a:sy n="1" d="1"/>
      </p:scale>
      <p:origin x="0" y="0"/>
    </p:cViewPr>
  </p:notesTextViewPr>
  <p:sorterViewPr>
    <p:cViewPr>
      <p:scale>
        <a:sx n="66" d="100"/>
        <a:sy n="66" d="100"/>
      </p:scale>
      <p:origin x="0" y="158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neha Muthubai" userId="89f711eb2de890f2" providerId="LiveId" clId="{BFC77FFB-A62A-471F-9B32-10334223B26E}"/>
    <pc:docChg chg="modSld">
      <pc:chgData name="Sneha Muthubai" userId="89f711eb2de890f2" providerId="LiveId" clId="{BFC77FFB-A62A-471F-9B32-10334223B26E}" dt="2026-04-02T03:28:26.642" v="4" actId="20577"/>
      <pc:docMkLst>
        <pc:docMk/>
      </pc:docMkLst>
      <pc:sldChg chg="modSp mod">
        <pc:chgData name="Sneha Muthubai" userId="89f711eb2de890f2" providerId="LiveId" clId="{BFC77FFB-A62A-471F-9B32-10334223B26E}" dt="2026-04-02T03:27:33.526" v="0" actId="255"/>
        <pc:sldMkLst>
          <pc:docMk/>
          <pc:sldMk cId="1483023466" sldId="285"/>
        </pc:sldMkLst>
        <pc:spChg chg="mod">
          <ac:chgData name="Sneha Muthubai" userId="89f711eb2de890f2" providerId="LiveId" clId="{BFC77FFB-A62A-471F-9B32-10334223B26E}" dt="2026-04-02T03:27:33.526" v="0" actId="255"/>
          <ac:spMkLst>
            <pc:docMk/>
            <pc:sldMk cId="1483023466" sldId="285"/>
            <ac:spMk id="2" creationId="{0A67855E-1871-1C12-956F-98A8ABCD88B2}"/>
          </ac:spMkLst>
        </pc:spChg>
      </pc:sldChg>
      <pc:sldChg chg="modSp mod">
        <pc:chgData name="Sneha Muthubai" userId="89f711eb2de890f2" providerId="LiveId" clId="{BFC77FFB-A62A-471F-9B32-10334223B26E}" dt="2026-04-02T03:28:26.642" v="4" actId="20577"/>
        <pc:sldMkLst>
          <pc:docMk/>
          <pc:sldMk cId="719452474" sldId="318"/>
        </pc:sldMkLst>
        <pc:spChg chg="mod">
          <ac:chgData name="Sneha Muthubai" userId="89f711eb2de890f2" providerId="LiveId" clId="{BFC77FFB-A62A-471F-9B32-10334223B26E}" dt="2026-04-02T03:28:26.642" v="4" actId="20577"/>
          <ac:spMkLst>
            <pc:docMk/>
            <pc:sldMk cId="719452474" sldId="318"/>
            <ac:spMk id="3" creationId="{98931B6B-CFCC-8F22-A5A2-1265EDD0828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54D0D6-A561-4EF5-8D0D-647D41FEB397}" type="datetimeFigureOut">
              <a:rPr lang="en-US" smtClean="0"/>
              <a:pPr/>
              <a:t>4/2/2026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F32917-A27A-4838-A390-D8DB149964C2}" type="slidenum">
              <a:rPr lang="en-US" smtClean="0"/>
              <a:pPr/>
              <a:t>‹#›</a:t>
            </a:fld>
            <a:endParaRPr lang="en-US"/>
          </a:p>
        </p:txBody>
      </p:sp>
    </p:spTree>
    <p:extLst>
      <p:ext uri="{BB962C8B-B14F-4D97-AF65-F5344CB8AC3E}">
        <p14:creationId xmlns:p14="http://schemas.microsoft.com/office/powerpoint/2010/main" val="3310827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F32917-A27A-4838-A390-D8DB149964C2}" type="slidenum">
              <a:rPr lang="en-US" smtClean="0"/>
              <a:pPr/>
              <a:t>1</a:t>
            </a:fld>
            <a:endParaRPr lang="en-US"/>
          </a:p>
        </p:txBody>
      </p:sp>
    </p:spTree>
    <p:extLst>
      <p:ext uri="{BB962C8B-B14F-4D97-AF65-F5344CB8AC3E}">
        <p14:creationId xmlns:p14="http://schemas.microsoft.com/office/powerpoint/2010/main" val="4151440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F32917-A27A-4838-A390-D8DB149964C2}" type="slidenum">
              <a:rPr lang="en-US" smtClean="0"/>
              <a:pPr/>
              <a:t>2</a:t>
            </a:fld>
            <a:endParaRPr lang="en-US"/>
          </a:p>
        </p:txBody>
      </p:sp>
    </p:spTree>
    <p:extLst>
      <p:ext uri="{BB962C8B-B14F-4D97-AF65-F5344CB8AC3E}">
        <p14:creationId xmlns:p14="http://schemas.microsoft.com/office/powerpoint/2010/main" val="20854028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F32917-A27A-4838-A390-D8DB149964C2}" type="slidenum">
              <a:rPr lang="en-US" smtClean="0"/>
              <a:pPr/>
              <a:t>3</a:t>
            </a:fld>
            <a:endParaRPr lang="en-US"/>
          </a:p>
        </p:txBody>
      </p:sp>
    </p:spTree>
    <p:extLst>
      <p:ext uri="{BB962C8B-B14F-4D97-AF65-F5344CB8AC3E}">
        <p14:creationId xmlns:p14="http://schemas.microsoft.com/office/powerpoint/2010/main" val="1063888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F32917-A27A-4838-A390-D8DB149964C2}" type="slidenum">
              <a:rPr lang="en-US" smtClean="0"/>
              <a:pPr/>
              <a:t>4</a:t>
            </a:fld>
            <a:endParaRPr lang="en-US"/>
          </a:p>
        </p:txBody>
      </p:sp>
    </p:spTree>
    <p:extLst>
      <p:ext uri="{BB962C8B-B14F-4D97-AF65-F5344CB8AC3E}">
        <p14:creationId xmlns:p14="http://schemas.microsoft.com/office/powerpoint/2010/main" val="12424608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F32917-A27A-4838-A390-D8DB149964C2}" type="slidenum">
              <a:rPr lang="en-US" smtClean="0"/>
              <a:pPr/>
              <a:t>5</a:t>
            </a:fld>
            <a:endParaRPr lang="en-US"/>
          </a:p>
        </p:txBody>
      </p:sp>
    </p:spTree>
    <p:extLst>
      <p:ext uri="{BB962C8B-B14F-4D97-AF65-F5344CB8AC3E}">
        <p14:creationId xmlns:p14="http://schemas.microsoft.com/office/powerpoint/2010/main" val="1288511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F32917-A27A-4838-A390-D8DB149964C2}" type="slidenum">
              <a:rPr lang="en-US" smtClean="0"/>
              <a:pPr/>
              <a:t>7</a:t>
            </a:fld>
            <a:endParaRPr lang="en-US"/>
          </a:p>
        </p:txBody>
      </p:sp>
    </p:spTree>
    <p:extLst>
      <p:ext uri="{BB962C8B-B14F-4D97-AF65-F5344CB8AC3E}">
        <p14:creationId xmlns:p14="http://schemas.microsoft.com/office/powerpoint/2010/main" val="310710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IN"/>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IN"/>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IN"/>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IN"/>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IN"/>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IN"/>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128FA71-3A18-48C0-980F-4B68F7F63042}" type="datetime1">
              <a:rPr lang="en-US" smtClean="0"/>
              <a:pPr/>
              <a:t>4/2/2026</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818845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C1210E-201E-4473-82AC-2466F5386C38}" type="datetime1">
              <a:rPr lang="en-US" smtClean="0"/>
              <a:pPr/>
              <a:t>4/2/2026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613186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EA198-6CAB-4B8F-B93F-1F9C8C4B6CE7}" type="datetime1">
              <a:rPr lang="en-US" smtClean="0"/>
              <a:pPr/>
              <a:t>4/2/2026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073735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06041F-4525-44D5-AA4F-332294BF1F56}" type="datetime1">
              <a:rPr lang="en-US" smtClean="0"/>
              <a:pPr/>
              <a:t>4/2/2026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676246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7F45AC6-C491-4585-A584-9CE2AF7D5500}" type="datetime1">
              <a:rPr lang="en-US" smtClean="0"/>
              <a:pPr/>
              <a:t>4/2/2026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63196938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6B226B-77A6-410C-9796-083F278E0125}" type="datetime1">
              <a:rPr lang="en-US" smtClean="0"/>
              <a:pPr/>
              <a:t>4/2/2026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594124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3A578B-D289-4C40-8593-3D356C49DA58}" type="datetime1">
              <a:rPr lang="en-US" smtClean="0"/>
              <a:pPr/>
              <a:t>4/2/2026</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28706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3DFAE3-14DB-48A7-A80F-80DDB072CE3D}" type="datetime1">
              <a:rPr lang="en-US" smtClean="0"/>
              <a:pPr/>
              <a:t>4/2/2026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437844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C5EAEF-6478-4102-8F5D-A5FE9FC97ACB}" type="datetime1">
              <a:rPr lang="en-US" smtClean="0"/>
              <a:pPr/>
              <a:t>4/2/2026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059799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F45AC6-C491-4585-A584-9CE2AF7D5500}" type="datetime1">
              <a:rPr lang="en-US" smtClean="0"/>
              <a:pPr/>
              <a:t>4/2/2026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606770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F45AC6-C491-4585-A584-9CE2AF7D5500}" type="datetime1">
              <a:rPr lang="en-US" smtClean="0"/>
              <a:pPr/>
              <a:t>4/2/2026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5742746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F45AC6-C491-4585-A584-9CE2AF7D5500}" type="datetime1">
              <a:rPr lang="en-US" smtClean="0"/>
              <a:pPr/>
              <a:t>4/2/2026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38633160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F45AC6-C491-4585-A584-9CE2AF7D5500}" type="datetime1">
              <a:rPr lang="en-US" smtClean="0"/>
              <a:pPr/>
              <a:t>4/2/2026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74734619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F45AC6-C491-4585-A584-9CE2AF7D5500}" type="datetime1">
              <a:rPr lang="en-US" smtClean="0"/>
              <a:pPr/>
              <a:t>4/2/2026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35256756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F45AC6-C491-4585-A584-9CE2AF7D5500}" type="datetime1">
              <a:rPr lang="en-US" smtClean="0"/>
              <a:pPr/>
              <a:t>4/2/2026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14172046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04EDB3-C0E8-45F8-9E1D-1B6C8D1880C0}" type="datetime1">
              <a:rPr lang="en-US" smtClean="0"/>
              <a:pPr/>
              <a:t>4/2/2026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346082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F0EC4B-54ED-4041-B552-9BA760FA3DBA}" type="datetime1">
              <a:rPr lang="en-US" smtClean="0"/>
              <a:pPr/>
              <a:t>4/2/2026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61534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IN"/>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IN"/>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IN"/>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IN"/>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IN"/>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IN"/>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7F45AC6-C491-4585-A584-9CE2AF7D5500}" type="datetime1">
              <a:rPr lang="en-US" smtClean="0"/>
              <a:pPr/>
              <a:t>4/2/2026</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031590855"/>
      </p:ext>
    </p:extLst>
  </p:cSld>
  <p:clrMap bg1="lt1" tx1="dk1" bg2="lt2" tx2="dk2" accent1="accent1" accent2="accent2" accent3="accent3" accent4="accent4" accent5="accent5" accent6="accent6" hlink="hlink" folHlink="folHlink"/>
  <p:sldLayoutIdLst>
    <p:sldLayoutId id="2147484655" r:id="rId1"/>
    <p:sldLayoutId id="2147484656" r:id="rId2"/>
    <p:sldLayoutId id="2147484657" r:id="rId3"/>
    <p:sldLayoutId id="2147484658" r:id="rId4"/>
    <p:sldLayoutId id="2147484659" r:id="rId5"/>
    <p:sldLayoutId id="2147484660" r:id="rId6"/>
    <p:sldLayoutId id="2147484661" r:id="rId7"/>
    <p:sldLayoutId id="2147484662" r:id="rId8"/>
    <p:sldLayoutId id="2147484663" r:id="rId9"/>
    <p:sldLayoutId id="2147484664" r:id="rId10"/>
    <p:sldLayoutId id="2147484665" r:id="rId11"/>
    <p:sldLayoutId id="2147484666" r:id="rId12"/>
    <p:sldLayoutId id="2147484667" r:id="rId13"/>
    <p:sldLayoutId id="2147484668" r:id="rId14"/>
    <p:sldLayoutId id="2147484669" r:id="rId15"/>
    <p:sldLayoutId id="2147484670" r:id="rId16"/>
    <p:sldLayoutId id="2147484671" r:id="rId17"/>
  </p:sldLayoutIdLst>
  <p:hf sldNum="0"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7855E-1871-1C12-956F-98A8ABCD88B2}"/>
              </a:ext>
            </a:extLst>
          </p:cNvPr>
          <p:cNvSpPr>
            <a:spLocks noGrp="1"/>
          </p:cNvSpPr>
          <p:nvPr>
            <p:ph type="title"/>
          </p:nvPr>
        </p:nvSpPr>
        <p:spPr>
          <a:xfrm>
            <a:off x="1914040" y="1364962"/>
            <a:ext cx="9557351" cy="750736"/>
          </a:xfrm>
        </p:spPr>
        <p:txBody>
          <a:bodyPr>
            <a:normAutofit fontScale="90000"/>
          </a:bodyPr>
          <a:lstStyle/>
          <a:p>
            <a:pPr algn="ctr"/>
            <a:r>
              <a:rPr lang="en-US" sz="3100" b="1" dirty="0">
                <a:solidFill>
                  <a:schemeClr val="tx1"/>
                </a:solidFill>
                <a:latin typeface="Times New Roman" panose="02020603050405020304" pitchFamily="18" charset="0"/>
                <a:cs typeface="Times New Roman" panose="02020603050405020304" pitchFamily="18" charset="0"/>
              </a:rPr>
              <a:t>UNIVERSITY COLLEGE OF ENGINEERING </a:t>
            </a:r>
            <a:br>
              <a:rPr lang="en-US" sz="3100" b="1" dirty="0">
                <a:solidFill>
                  <a:schemeClr val="tx1"/>
                </a:solidFill>
                <a:latin typeface="Times New Roman" panose="02020603050405020304" pitchFamily="18" charset="0"/>
                <a:cs typeface="Times New Roman" panose="02020603050405020304" pitchFamily="18" charset="0"/>
              </a:rPr>
            </a:br>
            <a:r>
              <a:rPr lang="en-US" sz="3100" b="1" dirty="0">
                <a:solidFill>
                  <a:schemeClr val="tx1"/>
                </a:solidFill>
                <a:latin typeface="Times New Roman" panose="02020603050405020304" pitchFamily="18" charset="0"/>
                <a:cs typeface="Times New Roman" panose="02020603050405020304" pitchFamily="18" charset="0"/>
              </a:rPr>
              <a:t>AND TECHNOLOGY FOR WOMEN</a:t>
            </a:r>
            <a:br>
              <a:rPr lang="en-US" sz="3100" b="1" dirty="0">
                <a:solidFill>
                  <a:schemeClr val="tx1"/>
                </a:solidFill>
                <a:latin typeface="Times New Roman" panose="02020603050405020304" pitchFamily="18" charset="0"/>
                <a:cs typeface="Times New Roman" panose="02020603050405020304" pitchFamily="18" charset="0"/>
              </a:rPr>
            </a:br>
            <a:br>
              <a:rPr lang="en-US" sz="3100" b="1" dirty="0">
                <a:solidFill>
                  <a:schemeClr val="tx1"/>
                </a:solidFill>
                <a:latin typeface="Times New Roman" panose="02020603050405020304" pitchFamily="18" charset="0"/>
                <a:cs typeface="Times New Roman" panose="02020603050405020304" pitchFamily="18" charset="0"/>
              </a:rPr>
            </a:br>
            <a:r>
              <a:rPr lang="en-US" sz="4400" b="1" dirty="0">
                <a:latin typeface="Times New Roman" panose="02020603050405020304" pitchFamily="18" charset="0"/>
                <a:cs typeface="Times New Roman" panose="02020603050405020304" pitchFamily="18" charset="0"/>
              </a:rPr>
              <a:t>Vitamin Deficiency Detection System </a:t>
            </a:r>
            <a:br>
              <a:rPr lang="en-US" sz="4400" b="1" dirty="0">
                <a:latin typeface="Times New Roman" panose="02020603050405020304" pitchFamily="18" charset="0"/>
                <a:cs typeface="Times New Roman" panose="02020603050405020304" pitchFamily="18" charset="0"/>
              </a:rPr>
            </a:br>
            <a:br>
              <a:rPr lang="en-US" sz="4400" b="1" dirty="0">
                <a:latin typeface="Times New Roman" panose="02020603050405020304" pitchFamily="18" charset="0"/>
                <a:cs typeface="Times New Roman" panose="02020603050405020304" pitchFamily="18" charset="0"/>
              </a:rPr>
            </a:br>
            <a:endParaRPr lang="en-US" sz="4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D312011-52C2-3F4F-1354-AEA18BDB8EBA}"/>
              </a:ext>
            </a:extLst>
          </p:cNvPr>
          <p:cNvSpPr>
            <a:spLocks noGrp="1"/>
          </p:cNvSpPr>
          <p:nvPr>
            <p:ph idx="1"/>
          </p:nvPr>
        </p:nvSpPr>
        <p:spPr>
          <a:xfrm>
            <a:off x="1597674" y="2323577"/>
            <a:ext cx="10190081" cy="4534423"/>
          </a:xfrm>
        </p:spPr>
        <p:txBody>
          <a:bodyPr/>
          <a:lstStyle/>
          <a:p>
            <a:pPr marL="0" indent="0" algn="l">
              <a:buNone/>
            </a:pPr>
            <a:r>
              <a:rPr lang="en-US" sz="2400" b="1" dirty="0">
                <a:latin typeface="Times New Roman" panose="02020603050405020304" pitchFamily="18" charset="0"/>
                <a:cs typeface="Times New Roman" panose="02020603050405020304" pitchFamily="18" charset="0"/>
              </a:rPr>
              <a:t>TEAM NUMBER:08                                              Branch-IT</a:t>
            </a:r>
          </a:p>
          <a:p>
            <a:pPr marL="0" indent="0" algn="l">
              <a:buNone/>
            </a:pPr>
            <a:r>
              <a:rPr lang="en-US" sz="2400" dirty="0">
                <a:latin typeface="Times New Roman" panose="02020603050405020304" pitchFamily="18" charset="0"/>
                <a:cs typeface="Times New Roman" panose="02020603050405020304" pitchFamily="18" charset="0"/>
              </a:rPr>
              <a:t>M. Umarani                  22568T1831                           HOD: Smt. J. Deepthi </a:t>
            </a:r>
          </a:p>
          <a:p>
            <a:pPr marL="0" indent="0" algn="l">
              <a:buNone/>
            </a:pPr>
            <a:r>
              <a:rPr lang="en-US" sz="2400" dirty="0">
                <a:latin typeface="Times New Roman" panose="02020603050405020304" pitchFamily="18" charset="0"/>
                <a:cs typeface="Times New Roman" panose="02020603050405020304" pitchFamily="18" charset="0"/>
              </a:rPr>
              <a:t>B. Roshini                     22568T1804                          Guide: Smt. K. Vanisree</a:t>
            </a:r>
          </a:p>
          <a:p>
            <a:pPr marL="0" indent="0" algn="l">
              <a:buNone/>
            </a:pPr>
            <a:r>
              <a:rPr lang="en-US" sz="2400" dirty="0">
                <a:latin typeface="Times New Roman" panose="02020603050405020304" pitchFamily="18" charset="0"/>
                <a:cs typeface="Times New Roman" panose="02020603050405020304" pitchFamily="18" charset="0"/>
              </a:rPr>
              <a:t>M. Snehalatha               22568T1832</a:t>
            </a:r>
          </a:p>
          <a:p>
            <a:pPr marL="0" indent="0" algn="l">
              <a:buNone/>
            </a:pPr>
            <a:r>
              <a:rPr lang="en-US" sz="2400" dirty="0">
                <a:latin typeface="Times New Roman" panose="02020603050405020304" pitchFamily="18" charset="0"/>
                <a:cs typeface="Times New Roman" panose="02020603050405020304" pitchFamily="18" charset="0"/>
              </a:rPr>
              <a:t>Shireen                          22568T1839</a:t>
            </a:r>
          </a:p>
          <a:p>
            <a:pPr marL="0" indent="0" algn="l">
              <a:buNone/>
            </a:pPr>
            <a:r>
              <a:rPr lang="en-US" sz="2400" dirty="0">
                <a:latin typeface="Times New Roman" panose="02020603050405020304" pitchFamily="18" charset="0"/>
                <a:cs typeface="Times New Roman" panose="02020603050405020304" pitchFamily="18" charset="0"/>
              </a:rPr>
              <a:t>N. Nandini                     22568T1834</a:t>
            </a:r>
          </a:p>
          <a:p>
            <a:pPr marL="0" indent="0" algn="l">
              <a:buNone/>
            </a:pP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B1D9607-5BA8-5B0F-5417-B06EE8835F0C}"/>
              </a:ext>
            </a:extLst>
          </p:cNvPr>
          <p:cNvPicPr>
            <a:picLocks noChangeAspect="1"/>
          </p:cNvPicPr>
          <p:nvPr/>
        </p:nvPicPr>
        <p:blipFill>
          <a:blip r:embed="rId3" cstate="print"/>
          <a:stretch>
            <a:fillRect/>
          </a:stretch>
        </p:blipFill>
        <p:spPr>
          <a:xfrm>
            <a:off x="1584893" y="245288"/>
            <a:ext cx="1268404" cy="951172"/>
          </a:xfrm>
          <a:prstGeom prst="rect">
            <a:avLst/>
          </a:prstGeom>
        </p:spPr>
      </p:pic>
    </p:spTree>
    <p:extLst>
      <p:ext uri="{BB962C8B-B14F-4D97-AF65-F5344CB8AC3E}">
        <p14:creationId xmlns:p14="http://schemas.microsoft.com/office/powerpoint/2010/main" val="1483023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D3C49-EA5E-F67A-4795-36E1C16DEB28}"/>
              </a:ext>
            </a:extLst>
          </p:cNvPr>
          <p:cNvSpPr>
            <a:spLocks noGrp="1"/>
          </p:cNvSpPr>
          <p:nvPr>
            <p:ph type="title"/>
          </p:nvPr>
        </p:nvSpPr>
        <p:spPr>
          <a:xfrm>
            <a:off x="2369975" y="0"/>
            <a:ext cx="8915401" cy="937725"/>
          </a:xfrm>
        </p:spPr>
        <p:txBody>
          <a:bodyPr>
            <a:normAutofit/>
          </a:bodyPr>
          <a:lstStyle/>
          <a:p>
            <a:pPr algn="just"/>
            <a:r>
              <a:rPr lang="en-US" sz="4000" b="1" dirty="0">
                <a:latin typeface="Times New Roman" panose="02020603050405020304" pitchFamily="18" charset="0"/>
                <a:cs typeface="Times New Roman" panose="02020603050405020304" pitchFamily="18" charset="0"/>
              </a:rPr>
              <a:t>CONTENTS</a:t>
            </a:r>
          </a:p>
        </p:txBody>
      </p:sp>
      <p:sp>
        <p:nvSpPr>
          <p:cNvPr id="6" name="Content Placeholder 5">
            <a:extLst>
              <a:ext uri="{FF2B5EF4-FFF2-40B4-BE49-F238E27FC236}">
                <a16:creationId xmlns:a16="http://schemas.microsoft.com/office/drawing/2014/main" id="{BD8997FE-D60B-C3CA-457A-B7A4025C3C3B}"/>
              </a:ext>
            </a:extLst>
          </p:cNvPr>
          <p:cNvSpPr>
            <a:spLocks noGrp="1"/>
          </p:cNvSpPr>
          <p:nvPr>
            <p:ph idx="1"/>
          </p:nvPr>
        </p:nvSpPr>
        <p:spPr>
          <a:xfrm>
            <a:off x="2369975" y="2621901"/>
            <a:ext cx="9029304" cy="3537343"/>
          </a:xfrm>
        </p:spPr>
        <p:txBody>
          <a:bodyPr>
            <a:noAutofit/>
          </a:bodyPr>
          <a:lstStyle/>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ABSTRACT</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EXISTING SYSTEM</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PROPOSED SYSTEM</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SYSTEM REQUIREMENTS</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MODULES</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DATAFLOW DIAGRAMS</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ALGORITHMS USED</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RESULT</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CONCLUSION</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REFERENCES</a:t>
            </a:r>
          </a:p>
          <a:p>
            <a:pPr marL="0" indent="0">
              <a:buNone/>
            </a:pPr>
            <a:endParaRPr lang="en-IN" dirty="0">
              <a:latin typeface="Times New Roman" panose="02020603050405020304" pitchFamily="18" charset="0"/>
              <a:cs typeface="Times New Roman" panose="02020603050405020304" pitchFamily="18" charset="0"/>
            </a:endParaRPr>
          </a:p>
          <a:p>
            <a:pPr marL="0" indent="0" algn="l">
              <a:buSzPct val="100000"/>
              <a:buNone/>
            </a:pPr>
            <a:endParaRPr lang="en-US" sz="3600" dirty="0">
              <a:latin typeface="Times New Roman" pitchFamily="18" charset="0"/>
              <a:cs typeface="Times New Roman" pitchFamily="18" charset="0"/>
            </a:endParaRPr>
          </a:p>
        </p:txBody>
      </p:sp>
    </p:spTree>
    <p:extLst>
      <p:ext uri="{BB962C8B-B14F-4D97-AF65-F5344CB8AC3E}">
        <p14:creationId xmlns:p14="http://schemas.microsoft.com/office/powerpoint/2010/main" val="52443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79BB5-A89F-A309-3363-380BA166FD8A}"/>
              </a:ext>
            </a:extLst>
          </p:cNvPr>
          <p:cNvSpPr>
            <a:spLocks noGrp="1"/>
          </p:cNvSpPr>
          <p:nvPr>
            <p:ph type="title"/>
          </p:nvPr>
        </p:nvSpPr>
        <p:spPr>
          <a:xfrm>
            <a:off x="1771261" y="-419877"/>
            <a:ext cx="8649478" cy="1483568"/>
          </a:xfrm>
        </p:spPr>
        <p:txBody>
          <a:bodyPr anchor="b">
            <a:normAutofit/>
          </a:bodyPr>
          <a:lstStyle/>
          <a:p>
            <a:pPr algn="just"/>
            <a:r>
              <a:rPr lang="en-US" sz="4000" b="1" dirty="0">
                <a:latin typeface="Times New Roman" panose="02020603050405020304" pitchFamily="18" charset="0"/>
                <a:cs typeface="Times New Roman" panose="02020603050405020304" pitchFamily="18" charset="0"/>
              </a:rPr>
              <a:t>ABSTRACT</a:t>
            </a:r>
          </a:p>
        </p:txBody>
      </p:sp>
      <p:sp>
        <p:nvSpPr>
          <p:cNvPr id="4" name="Content Placeholder 2">
            <a:extLst>
              <a:ext uri="{FF2B5EF4-FFF2-40B4-BE49-F238E27FC236}">
                <a16:creationId xmlns:a16="http://schemas.microsoft.com/office/drawing/2014/main" id="{166D4B58-A63F-6162-7390-6619ABE8A7E4}"/>
              </a:ext>
            </a:extLst>
          </p:cNvPr>
          <p:cNvSpPr>
            <a:spLocks noGrp="1"/>
          </p:cNvSpPr>
          <p:nvPr>
            <p:ph idx="1"/>
          </p:nvPr>
        </p:nvSpPr>
        <p:spPr>
          <a:xfrm>
            <a:off x="1595535" y="811763"/>
            <a:ext cx="9630696" cy="6251511"/>
          </a:xfrm>
        </p:spPr>
        <p:txBody>
          <a:bodyPr>
            <a:noAutofit/>
          </a:bodyPr>
          <a:lstStyle/>
          <a:p>
            <a:pPr marL="0" indent="0" algn="just">
              <a:buNone/>
            </a:pPr>
            <a:r>
              <a:rPr lang="en-US" sz="2000" dirty="0">
                <a:latin typeface="Times New Roman" panose="02020603050405020304" pitchFamily="18" charset="0"/>
                <a:cs typeface="Times New Roman" panose="02020603050405020304" pitchFamily="18" charset="0"/>
              </a:rPr>
              <a:t>The Vitamin Deficiency Detection System is a web application that identifies potential vitamin deficiencies using machine learning. The project’s main goal is to raise awareness about vitamin deficiencies based on symptoms and basic health information provided by the user. In this system, user enter their symptoms and general health details through a simple, easy-to-use interface. The entered data is analyzed using a trained Random Forest machine learning model, which predicts potential vitamin deficiencies. After making predictions, the system displays the identified deficiency along with a risk level to show the severity. It also offers basic health suggestions, including dietary recommendations and lifestyle tips, and advises users to see a doctor if needed. The application stores prediction results in a database for future reference. Moreover, the system has a feature that allows users to generate and download a PDF report with their details. This project shows how machine learning and web technologies can work together to create a simple, efficient, and user-friendly system that aids in early detection and awareness of vitamin deficiencies.</a:t>
            </a:r>
            <a:endParaRPr lang="en-IN" sz="2000" dirty="0">
              <a:latin typeface="Times New Roman" panose="02020603050405020304" pitchFamily="18" charset="0"/>
              <a:cs typeface="Times New Roman" panose="02020603050405020304" pitchFamily="18" charset="0"/>
            </a:endParaRPr>
          </a:p>
          <a:p>
            <a:pPr marL="0" indent="0" algn="just">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9822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37E24-2E0D-6229-1B64-52062BFB56DC}"/>
              </a:ext>
            </a:extLst>
          </p:cNvPr>
          <p:cNvSpPr>
            <a:spLocks noGrp="1"/>
          </p:cNvSpPr>
          <p:nvPr>
            <p:ph type="title"/>
          </p:nvPr>
        </p:nvSpPr>
        <p:spPr>
          <a:xfrm>
            <a:off x="1091682" y="152402"/>
            <a:ext cx="10299375" cy="1032586"/>
          </a:xfrm>
        </p:spPr>
        <p:txBody>
          <a:bodyPr>
            <a:normAutofit/>
          </a:bodyPr>
          <a:lstStyle/>
          <a:p>
            <a:pPr algn="just"/>
            <a:r>
              <a:rPr lang="en-US" b="1" dirty="0">
                <a:latin typeface="Times New Roman" panose="02020603050405020304" pitchFamily="18" charset="0"/>
                <a:cs typeface="Times New Roman" panose="02020603050405020304" pitchFamily="18" charset="0"/>
              </a:rPr>
              <a:t>        INTRODUCTION</a:t>
            </a:r>
          </a:p>
        </p:txBody>
      </p:sp>
      <p:sp>
        <p:nvSpPr>
          <p:cNvPr id="30" name="Content Placeholder 5">
            <a:extLst>
              <a:ext uri="{FF2B5EF4-FFF2-40B4-BE49-F238E27FC236}">
                <a16:creationId xmlns:a16="http://schemas.microsoft.com/office/drawing/2014/main" id="{B431D908-3E2E-E509-FA92-7E27682BBF6B}"/>
              </a:ext>
            </a:extLst>
          </p:cNvPr>
          <p:cNvSpPr>
            <a:spLocks noGrp="1"/>
          </p:cNvSpPr>
          <p:nvPr>
            <p:ph idx="1"/>
          </p:nvPr>
        </p:nvSpPr>
        <p:spPr>
          <a:xfrm>
            <a:off x="1502229" y="475859"/>
            <a:ext cx="10076623" cy="6522099"/>
          </a:xfrm>
        </p:spPr>
        <p:txBody>
          <a:bodyPr>
            <a:noAutofit/>
          </a:bodyPr>
          <a:lstStyle/>
          <a:p>
            <a:pPr marL="457200" lvl="1" indent="0" algn="just">
              <a:buNone/>
            </a:pPr>
            <a:r>
              <a:rPr lang="en-US" dirty="0">
                <a:latin typeface="Times New Roman" panose="02020603050405020304" pitchFamily="18" charset="0"/>
                <a:cs typeface="Times New Roman" panose="02020603050405020304" pitchFamily="18" charset="0"/>
              </a:rPr>
              <a:t>The Vitamin Deficiency Detection System is designed to identify vitamin deficiencies at an early stage using machine learning. In today’s lifestyle, many people suffer from nutritional deficiencies due to poor diet, lack of awareness, and unhealthy habits. Deficiencies such as Vitamin D, Vitamin B12, and Iron can lead to serious health problems if not detected on time. Traditional methods like laboratory tests and doctor consultations are effective but often time-consuming, costly, and not easily accessible to everyone, especially in rural areas. To overcome these limitations, this system provides a simple and efficient web-based solution. The application allows users to enter their symptoms and basic health details through an easy interface. A trained Random Forest model analyzes the input data and predicts possible vitamin deficiencies. Based on the results, the system provides suitable food recommendations and health suggestions. Additionally, the system includes features like nutrition tracking and report generation, helping users monitor their health over time. The main goal of this project is to create a user-friendly, fast, and cost-effective solution that improves health awareness and supports early detection of vitamin deficiencies.</a:t>
            </a:r>
          </a:p>
        </p:txBody>
      </p:sp>
    </p:spTree>
    <p:extLst>
      <p:ext uri="{BB962C8B-B14F-4D97-AF65-F5344CB8AC3E}">
        <p14:creationId xmlns:p14="http://schemas.microsoft.com/office/powerpoint/2010/main" val="68020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1688A-F4CF-8D63-0C88-B445158080B7}"/>
              </a:ext>
            </a:extLst>
          </p:cNvPr>
          <p:cNvSpPr>
            <a:spLocks noGrp="1"/>
          </p:cNvSpPr>
          <p:nvPr>
            <p:ph type="title"/>
          </p:nvPr>
        </p:nvSpPr>
        <p:spPr>
          <a:xfrm>
            <a:off x="635226" y="139959"/>
            <a:ext cx="10018713" cy="1287626"/>
          </a:xfrm>
        </p:spPr>
        <p:txBody>
          <a:bodyPr>
            <a:normAutofit/>
          </a:bodyPr>
          <a:lstStyle/>
          <a:p>
            <a:pPr algn="just"/>
            <a:r>
              <a:rPr lang="en-US" sz="4000" b="1" dirty="0">
                <a:latin typeface="Times New Roman" panose="02020603050405020304" pitchFamily="18" charset="0"/>
                <a:cs typeface="Times New Roman" panose="02020603050405020304" pitchFamily="18" charset="0"/>
              </a:rPr>
              <a:t>           EXISTING SYSTEM</a:t>
            </a:r>
          </a:p>
        </p:txBody>
      </p:sp>
      <p:sp>
        <p:nvSpPr>
          <p:cNvPr id="3" name="Content Placeholder 2">
            <a:extLst>
              <a:ext uri="{FF2B5EF4-FFF2-40B4-BE49-F238E27FC236}">
                <a16:creationId xmlns:a16="http://schemas.microsoft.com/office/drawing/2014/main" id="{D030CD8F-ADBC-DA6D-747B-C81C285B92FC}"/>
              </a:ext>
            </a:extLst>
          </p:cNvPr>
          <p:cNvSpPr>
            <a:spLocks noGrp="1"/>
          </p:cNvSpPr>
          <p:nvPr>
            <p:ph idx="1"/>
          </p:nvPr>
        </p:nvSpPr>
        <p:spPr>
          <a:xfrm>
            <a:off x="1979982" y="1219667"/>
            <a:ext cx="9328720" cy="4024915"/>
          </a:xfrm>
        </p:spPr>
        <p:txBody>
          <a:bodyPr anchor="ctr">
            <a:noAutofit/>
          </a:bodyPr>
          <a:lstStyle/>
          <a:p>
            <a:pPr marL="0" indent="0" algn="just">
              <a:buNone/>
            </a:pPr>
            <a:r>
              <a:rPr lang="en-US" sz="2000" dirty="0">
                <a:latin typeface="Times New Roman" panose="02020603050405020304" pitchFamily="18" charset="0"/>
                <a:cs typeface="Times New Roman" panose="02020603050405020304" pitchFamily="18" charset="0"/>
              </a:rPr>
              <a:t>As of now, vitamin deficiencies are mostly identified through traditional methods such as doctor consultations and laboratory tests. These methods require time, cost, and access to healthcare facilities, which may not be available to everyone. Many individuals ignore early symptoms due to lack of awareness or delay in diagnosis. There is no proper system to quickly analyze symptoms and provide instant feedback. Most people do not have access to personalized guidance regarding their nutritional status. As a result, deficiencies remain undetected for a long time, leading to serious health problems. Additionally, there is no automated mechanism to predict deficiencies or provide immediate dietary recommendations based on user inputs.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6398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8593B-05F7-19BA-AE95-242AEC290940}"/>
              </a:ext>
            </a:extLst>
          </p:cNvPr>
          <p:cNvSpPr>
            <a:spLocks noGrp="1"/>
          </p:cNvSpPr>
          <p:nvPr>
            <p:ph type="title"/>
          </p:nvPr>
        </p:nvSpPr>
        <p:spPr>
          <a:xfrm>
            <a:off x="-1530220" y="103414"/>
            <a:ext cx="10122093" cy="1752599"/>
          </a:xfrm>
        </p:spPr>
        <p:txBody>
          <a:bodyPr/>
          <a:lstStyle/>
          <a:p>
            <a:r>
              <a:rPr lang="en-US" dirty="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DISADVANTAGES</a:t>
            </a:r>
            <a:endParaRPr lang="en-IN" sz="4000" b="1" dirty="0"/>
          </a:p>
        </p:txBody>
      </p:sp>
      <p:sp>
        <p:nvSpPr>
          <p:cNvPr id="3" name="Content Placeholder 2">
            <a:extLst>
              <a:ext uri="{FF2B5EF4-FFF2-40B4-BE49-F238E27FC236}">
                <a16:creationId xmlns:a16="http://schemas.microsoft.com/office/drawing/2014/main" id="{CDB6A20D-9D9E-4608-E19D-7DCF8CD17CAB}"/>
              </a:ext>
            </a:extLst>
          </p:cNvPr>
          <p:cNvSpPr>
            <a:spLocks noGrp="1"/>
          </p:cNvSpPr>
          <p:nvPr>
            <p:ph idx="1"/>
          </p:nvPr>
        </p:nvSpPr>
        <p:spPr>
          <a:xfrm>
            <a:off x="1548882" y="1152019"/>
            <a:ext cx="9405257" cy="4726267"/>
          </a:xfrm>
        </p:spPr>
        <p:txBody>
          <a:bodyPr>
            <a:noAutofit/>
          </a:bodyPr>
          <a:lstStyle/>
          <a:p>
            <a:pPr algn="just">
              <a:lnSpc>
                <a:spcPct val="150000"/>
              </a:lnSpc>
            </a:pPr>
            <a:r>
              <a:rPr lang="en-US" sz="2000" dirty="0">
                <a:latin typeface="Times New Roman" panose="02020603050405020304" pitchFamily="18" charset="0"/>
                <a:cs typeface="Times New Roman" panose="02020603050405020304" pitchFamily="18" charset="0"/>
              </a:rPr>
              <a:t> Early symptoms are often ignored or misunderstood, leading to delayed diagnosis and serious health issues</a:t>
            </a:r>
          </a:p>
          <a:p>
            <a:pPr algn="just"/>
            <a:r>
              <a:rPr lang="en-US" sz="2000" dirty="0">
                <a:latin typeface="Times New Roman" panose="02020603050405020304" pitchFamily="18" charset="0"/>
                <a:cs typeface="Times New Roman" panose="02020603050405020304" pitchFamily="18" charset="0"/>
              </a:rPr>
              <a:t>There is no quick or automated system to analyze symptoms and provide instant results.</a:t>
            </a:r>
          </a:p>
          <a:p>
            <a:pPr algn="just">
              <a:lnSpc>
                <a:spcPct val="150000"/>
              </a:lnSpc>
            </a:pPr>
            <a:r>
              <a:rPr lang="en-US" sz="2000" dirty="0">
                <a:latin typeface="Times New Roman" panose="02020603050405020304" pitchFamily="18" charset="0"/>
                <a:cs typeface="Times New Roman" panose="02020603050405020304" pitchFamily="18" charset="0"/>
              </a:rPr>
              <a:t> Lack of awareness about proper nutrition and deficiency signs among people.</a:t>
            </a:r>
          </a:p>
          <a:p>
            <a:pPr algn="just"/>
            <a:r>
              <a:rPr lang="en-US" sz="2000" dirty="0">
                <a:latin typeface="Times New Roman" panose="02020603050405020304" pitchFamily="18" charset="0"/>
                <a:cs typeface="Times New Roman" panose="02020603050405020304" pitchFamily="18" charset="0"/>
              </a:rPr>
              <a:t>Traditional methods do not provide personalized dietary suggestions or continuous monitoring.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1994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0E435-80E1-A802-D514-7FBCE01F7884}"/>
              </a:ext>
            </a:extLst>
          </p:cNvPr>
          <p:cNvSpPr>
            <a:spLocks noGrp="1"/>
          </p:cNvSpPr>
          <p:nvPr>
            <p:ph type="title"/>
          </p:nvPr>
        </p:nvSpPr>
        <p:spPr>
          <a:xfrm>
            <a:off x="594515" y="402356"/>
            <a:ext cx="8911687" cy="1043889"/>
          </a:xfrm>
        </p:spPr>
        <p:txBody>
          <a:bodyPr anchor="ctr">
            <a:normAutofit/>
          </a:bodyPr>
          <a:lstStyle/>
          <a:p>
            <a:pPr algn="l"/>
            <a:r>
              <a:rPr lang="en-US" sz="4000" b="1" dirty="0">
                <a:latin typeface="Times New Roman" panose="02020603050405020304" pitchFamily="18" charset="0"/>
                <a:cs typeface="Times New Roman" panose="02020603050405020304" pitchFamily="18" charset="0"/>
              </a:rPr>
              <a:t>         PROPOSED SYSTEM</a:t>
            </a:r>
          </a:p>
        </p:txBody>
      </p:sp>
      <p:sp>
        <p:nvSpPr>
          <p:cNvPr id="4" name="Content Placeholder 2">
            <a:extLst>
              <a:ext uri="{FF2B5EF4-FFF2-40B4-BE49-F238E27FC236}">
                <a16:creationId xmlns:a16="http://schemas.microsoft.com/office/drawing/2014/main" id="{A4453B4B-BC06-5B2B-BF99-93219623D838}"/>
              </a:ext>
            </a:extLst>
          </p:cNvPr>
          <p:cNvSpPr>
            <a:spLocks noGrp="1"/>
          </p:cNvSpPr>
          <p:nvPr>
            <p:ph idx="1"/>
          </p:nvPr>
        </p:nvSpPr>
        <p:spPr>
          <a:xfrm>
            <a:off x="1595536" y="1284826"/>
            <a:ext cx="9237304" cy="5049520"/>
          </a:xfrm>
        </p:spPr>
        <p:txBody>
          <a:bodyPr>
            <a:noAutofit/>
          </a:bodyPr>
          <a:lstStyle/>
          <a:p>
            <a:pPr marL="0" indent="0" algn="just">
              <a:buNone/>
            </a:pPr>
            <a:r>
              <a:rPr lang="en-US" sz="2000" dirty="0">
                <a:latin typeface="Times New Roman" panose="02020603050405020304" pitchFamily="18" charset="0"/>
                <a:cs typeface="Times New Roman" panose="02020603050405020304" pitchFamily="18" charset="0"/>
              </a:rPr>
              <a:t>The proposed AI-Based Vitamin Deficiency Detection System is a user-friendly web application designed to provide a simple and efficient way to identify vitamin deficiencies. Users can register or log in to the system and enter their symptoms and basic health details through an interactive interface. The entered data is processed using a trained Random Forest machine learning model, which predicts the type of vitamin deficiency . After prediction, the system displays the deficiency type along with confidence level, risk status, and nutrition score. It also provides personalized food recommendations and advises users to consult a doctor when necessary. The prediction details are stored in a database for future reference. Additionally, the system allows users to generate and download a PDF report containing their information, prediction results, and recommendations . This system provides a simple, fast, and digital solution for early detection of vitamin deficiencies using machine learning and web technologies.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1075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91855-D9EB-4E7F-ACE4-D611F5E7A75B}"/>
              </a:ext>
            </a:extLst>
          </p:cNvPr>
          <p:cNvSpPr>
            <a:spLocks noGrp="1"/>
          </p:cNvSpPr>
          <p:nvPr>
            <p:ph type="title"/>
          </p:nvPr>
        </p:nvSpPr>
        <p:spPr>
          <a:xfrm>
            <a:off x="-2052735" y="233265"/>
            <a:ext cx="11868507" cy="1502230"/>
          </a:xfrm>
        </p:spPr>
        <p:txBody>
          <a:bodyPr>
            <a:normAutofit/>
          </a:bodyPr>
          <a:lstStyle/>
          <a:p>
            <a:pPr algn="ctr"/>
            <a:r>
              <a:rPr lang="en-US" sz="4000" b="1" dirty="0">
                <a:latin typeface="Times New Roman" panose="02020603050405020304" pitchFamily="18" charset="0"/>
                <a:cs typeface="Times New Roman" panose="02020603050405020304" pitchFamily="18" charset="0"/>
              </a:rPr>
              <a:t>ADVANTAGES</a:t>
            </a:r>
            <a:endParaRPr lang="en-IN" sz="4000" b="1" dirty="0"/>
          </a:p>
        </p:txBody>
      </p:sp>
      <p:sp>
        <p:nvSpPr>
          <p:cNvPr id="3" name="Content Placeholder 2">
            <a:extLst>
              <a:ext uri="{FF2B5EF4-FFF2-40B4-BE49-F238E27FC236}">
                <a16:creationId xmlns:a16="http://schemas.microsoft.com/office/drawing/2014/main" id="{B0374AD4-335F-6EA0-4B7C-C783B1C6A7CD}"/>
              </a:ext>
            </a:extLst>
          </p:cNvPr>
          <p:cNvSpPr>
            <a:spLocks noGrp="1"/>
          </p:cNvSpPr>
          <p:nvPr>
            <p:ph idx="1"/>
          </p:nvPr>
        </p:nvSpPr>
        <p:spPr>
          <a:xfrm>
            <a:off x="1735495" y="1562465"/>
            <a:ext cx="9022701" cy="4222515"/>
          </a:xfrm>
        </p:spPr>
        <p:txBody>
          <a:bodyPr>
            <a:noAutofit/>
          </a:bodyPr>
          <a:lstStyle/>
          <a:p>
            <a:pPr algn="just"/>
            <a:r>
              <a:rPr lang="en-US" sz="2000" dirty="0">
                <a:latin typeface="Times New Roman" panose="02020603050405020304" pitchFamily="18" charset="0"/>
                <a:cs typeface="Times New Roman" panose="02020603050405020304" pitchFamily="18" charset="0"/>
              </a:rPr>
              <a:t>Saves time and reduces dependency on frequent medical tests.</a:t>
            </a:r>
          </a:p>
          <a:p>
            <a:pPr algn="just"/>
            <a:r>
              <a:rPr lang="en-US" sz="2000" dirty="0">
                <a:latin typeface="Times New Roman" panose="02020603050405020304" pitchFamily="18" charset="0"/>
                <a:cs typeface="Times New Roman" panose="02020603050405020304" pitchFamily="18" charset="0"/>
              </a:rPr>
              <a:t> User-friendly interface accessible to anyone.</a:t>
            </a:r>
          </a:p>
          <a:p>
            <a:pPr algn="just"/>
            <a:r>
              <a:rPr lang="en-US" sz="2000" dirty="0">
                <a:latin typeface="Times New Roman" panose="02020603050405020304" pitchFamily="18" charset="0"/>
                <a:cs typeface="Times New Roman" panose="02020603050405020304" pitchFamily="18" charset="0"/>
              </a:rPr>
              <a:t>Offers personalized food recommendations and health advice.</a:t>
            </a:r>
          </a:p>
          <a:p>
            <a:pPr algn="just"/>
            <a:r>
              <a:rPr lang="en-US" sz="2000" dirty="0">
                <a:latin typeface="Times New Roman" panose="02020603050405020304" pitchFamily="18" charset="0"/>
                <a:cs typeface="Times New Roman" panose="02020603050405020304" pitchFamily="18" charset="0"/>
              </a:rPr>
              <a:t>Stores user data securely for tracking and future analysis.</a:t>
            </a:r>
          </a:p>
          <a:p>
            <a:pPr algn="just"/>
            <a:r>
              <a:rPr lang="en-US" sz="2000" dirty="0">
                <a:latin typeface="Times New Roman" panose="02020603050405020304" pitchFamily="18" charset="0"/>
                <a:cs typeface="Times New Roman" panose="02020603050405020304" pitchFamily="18" charset="0"/>
              </a:rPr>
              <a:t>Generates PDF reports for easy access and sharing.</a:t>
            </a:r>
          </a:p>
          <a:p>
            <a:pPr algn="just"/>
            <a:r>
              <a:rPr lang="en-US" sz="2000" dirty="0">
                <a:latin typeface="Times New Roman" panose="02020603050405020304" pitchFamily="18" charset="0"/>
                <a:cs typeface="Times New Roman" panose="02020603050405020304" pitchFamily="18" charset="0"/>
              </a:rPr>
              <a:t>Helps in early detection and improves health awareness.</a:t>
            </a:r>
            <a:endParaRPr lang="en-IN" sz="2000" dirty="0">
              <a:latin typeface="Times New Roman" panose="02020603050405020304" pitchFamily="18" charset="0"/>
              <a:cs typeface="Times New Roman" panose="02020603050405020304" pitchFamily="18" charset="0"/>
            </a:endParaRPr>
          </a:p>
          <a:p>
            <a:pPr marL="0" indent="0">
              <a:buNone/>
            </a:pPr>
            <a:endParaRPr lang="en-IN" sz="2000" dirty="0"/>
          </a:p>
        </p:txBody>
      </p:sp>
    </p:spTree>
    <p:extLst>
      <p:ext uri="{BB962C8B-B14F-4D97-AF65-F5344CB8AC3E}">
        <p14:creationId xmlns:p14="http://schemas.microsoft.com/office/powerpoint/2010/main" val="3156561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39879-4190-050B-DA2C-E9AEDCF53204}"/>
              </a:ext>
            </a:extLst>
          </p:cNvPr>
          <p:cNvSpPr>
            <a:spLocks noGrp="1"/>
          </p:cNvSpPr>
          <p:nvPr>
            <p:ph type="title"/>
          </p:nvPr>
        </p:nvSpPr>
        <p:spPr>
          <a:xfrm>
            <a:off x="-522515" y="167952"/>
            <a:ext cx="11297752" cy="1464905"/>
          </a:xfrm>
        </p:spPr>
        <p:txBody>
          <a:bodyPr/>
          <a:lstStyle/>
          <a:p>
            <a:pPr algn="ctr"/>
            <a:r>
              <a:rPr lang="en-IN" b="1" dirty="0">
                <a:latin typeface="Times New Roman" panose="02020603050405020304" pitchFamily="18" charset="0"/>
                <a:cs typeface="Times New Roman" panose="02020603050405020304" pitchFamily="18" charset="0"/>
              </a:rPr>
              <a:t>SYSTEM</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REQUIREMENTS</a:t>
            </a:r>
          </a:p>
        </p:txBody>
      </p:sp>
      <p:sp>
        <p:nvSpPr>
          <p:cNvPr id="4" name="Content Placeholder 2">
            <a:extLst>
              <a:ext uri="{FF2B5EF4-FFF2-40B4-BE49-F238E27FC236}">
                <a16:creationId xmlns:a16="http://schemas.microsoft.com/office/drawing/2014/main" id="{F37F5F60-4946-2E53-40B4-2F4F44A9E298}"/>
              </a:ext>
            </a:extLst>
          </p:cNvPr>
          <p:cNvSpPr>
            <a:spLocks noGrp="1"/>
          </p:cNvSpPr>
          <p:nvPr>
            <p:ph idx="1"/>
          </p:nvPr>
        </p:nvSpPr>
        <p:spPr>
          <a:xfrm>
            <a:off x="1820213" y="2265782"/>
            <a:ext cx="10018713" cy="3481875"/>
          </a:xfrm>
        </p:spPr>
        <p:txBody>
          <a:bodyPr>
            <a:normAutofit fontScale="92500" lnSpcReduction="20000"/>
          </a:bodyPr>
          <a:lstStyle/>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Hardware</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Requirements</a:t>
            </a:r>
          </a:p>
          <a:p>
            <a:pPr marL="0" indent="0" algn="just">
              <a:buNone/>
            </a:pPr>
            <a:r>
              <a:rPr lang="en-IN" sz="2000" dirty="0">
                <a:latin typeface="Times New Roman" panose="02020603050405020304" pitchFamily="18" charset="0"/>
                <a:cs typeface="Times New Roman" panose="02020603050405020304" pitchFamily="18" charset="0"/>
              </a:rPr>
              <a:t>        Processor                                  :    intel i5 core or higher</a:t>
            </a:r>
          </a:p>
          <a:p>
            <a:pPr marL="0" indent="0" algn="just">
              <a:buNone/>
            </a:pPr>
            <a:r>
              <a:rPr lang="en-IN" sz="2000" dirty="0">
                <a:latin typeface="Times New Roman" panose="02020603050405020304" pitchFamily="18" charset="0"/>
                <a:cs typeface="Times New Roman" panose="02020603050405020304" pitchFamily="18" charset="0"/>
              </a:rPr>
              <a:t>        Ram                                          :    8 GB  or more</a:t>
            </a:r>
          </a:p>
          <a:p>
            <a:pPr marL="0" indent="0" algn="just">
              <a:buNone/>
            </a:pPr>
            <a:r>
              <a:rPr lang="en-IN" sz="2000" dirty="0">
                <a:latin typeface="Times New Roman" panose="02020603050405020304" pitchFamily="18" charset="0"/>
                <a:cs typeface="Times New Roman" panose="02020603050405020304" pitchFamily="18" charset="0"/>
              </a:rPr>
              <a:t>        Speed                                        :     2.5 GHz   or higher</a:t>
            </a:r>
            <a:endParaRPr lang="en-US" sz="2000" b="1"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Software Requirements</a:t>
            </a:r>
          </a:p>
          <a:p>
            <a:pPr marL="0" indent="0" algn="just">
              <a:buNone/>
            </a:pPr>
            <a:r>
              <a:rPr lang="en-IN" sz="2000" dirty="0">
                <a:latin typeface="Times New Roman" panose="02020603050405020304" pitchFamily="18" charset="0"/>
                <a:cs typeface="Times New Roman" panose="02020603050405020304" pitchFamily="18" charset="0"/>
              </a:rPr>
              <a:t>        Frontend Technologies                 :           HTML ,CSS , JavaScript</a:t>
            </a:r>
          </a:p>
          <a:p>
            <a:pPr marL="0" indent="0" algn="just">
              <a:buNone/>
            </a:pPr>
            <a:r>
              <a:rPr lang="en-IN" sz="2000" dirty="0">
                <a:latin typeface="Times New Roman" panose="02020603050405020304" pitchFamily="18" charset="0"/>
                <a:cs typeface="Times New Roman" panose="02020603050405020304" pitchFamily="18" charset="0"/>
              </a:rPr>
              <a:t>        Backend Technologies                 :           Python(Flask)</a:t>
            </a:r>
          </a:p>
          <a:p>
            <a:pPr marL="0" indent="0" algn="just">
              <a:buNone/>
            </a:pPr>
            <a:r>
              <a:rPr lang="en-IN" sz="2000" dirty="0">
                <a:latin typeface="Times New Roman" panose="02020603050405020304" pitchFamily="18" charset="0"/>
                <a:cs typeface="Times New Roman" panose="02020603050405020304" pitchFamily="18" charset="0"/>
              </a:rPr>
              <a:t>        Database                                       :          MongoDB</a:t>
            </a:r>
          </a:p>
          <a:p>
            <a:pPr marL="0" indent="0" algn="just">
              <a:buNone/>
            </a:pPr>
            <a:r>
              <a:rPr lang="en-IN" sz="2000" dirty="0">
                <a:latin typeface="Times New Roman" panose="02020603050405020304" pitchFamily="18" charset="0"/>
                <a:cs typeface="Times New Roman" panose="02020603050405020304" pitchFamily="18" charset="0"/>
              </a:rPr>
              <a:t>        Machine Learning                        :         </a:t>
            </a:r>
            <a:r>
              <a:rPr lang="en-IN" sz="2000" dirty="0" err="1">
                <a:latin typeface="Times New Roman" panose="02020603050405020304" pitchFamily="18" charset="0"/>
                <a:cs typeface="Times New Roman" panose="02020603050405020304" pitchFamily="18" charset="0"/>
              </a:rPr>
              <a:t>Sciki</a:t>
            </a:r>
            <a:r>
              <a:rPr lang="en-IN" sz="2000" dirty="0">
                <a:latin typeface="Times New Roman" panose="02020603050405020304" pitchFamily="18" charset="0"/>
                <a:cs typeface="Times New Roman" panose="02020603050405020304" pitchFamily="18" charset="0"/>
              </a:rPr>
              <a:t> - learn</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3846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79109-5C8E-8519-0DBD-D99DD731509B}"/>
              </a:ext>
            </a:extLst>
          </p:cNvPr>
          <p:cNvSpPr>
            <a:spLocks noGrp="1"/>
          </p:cNvSpPr>
          <p:nvPr>
            <p:ph type="title"/>
          </p:nvPr>
        </p:nvSpPr>
        <p:spPr>
          <a:xfrm>
            <a:off x="-1081032" y="-196645"/>
            <a:ext cx="10327669" cy="1484671"/>
          </a:xfrm>
        </p:spPr>
        <p:txBody>
          <a:bodyPr/>
          <a:lstStyle/>
          <a:p>
            <a:r>
              <a:rPr lang="en-US" b="1" dirty="0">
                <a:latin typeface="Times New Roman" panose="02020603050405020304" pitchFamily="18" charset="0"/>
                <a:cs typeface="Times New Roman" panose="02020603050405020304" pitchFamily="18" charset="0"/>
              </a:rPr>
              <a:t>MODULES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F605086-58FC-0826-338C-808617359382}"/>
              </a:ext>
            </a:extLst>
          </p:cNvPr>
          <p:cNvSpPr>
            <a:spLocks noGrp="1"/>
          </p:cNvSpPr>
          <p:nvPr>
            <p:ph idx="1"/>
          </p:nvPr>
        </p:nvSpPr>
        <p:spPr>
          <a:xfrm>
            <a:off x="1407517" y="755781"/>
            <a:ext cx="10899559" cy="5858820"/>
          </a:xfrm>
        </p:spPr>
        <p:txBody>
          <a:bodyPr>
            <a:normAutofit/>
          </a:bodyPr>
          <a:lstStyle/>
          <a:p>
            <a:r>
              <a:rPr lang="en-US" sz="2000" b="1" dirty="0">
                <a:latin typeface="Times New Roman" panose="02020603050405020304" pitchFamily="18" charset="0"/>
                <a:cs typeface="Times New Roman" panose="02020603050405020304" pitchFamily="18" charset="0"/>
              </a:rPr>
              <a:t>User Authentication Module</a:t>
            </a:r>
            <a:r>
              <a:rPr lang="en-US" sz="2000" dirty="0">
                <a:latin typeface="Times New Roman" panose="02020603050405020304" pitchFamily="18" charset="0"/>
                <a:cs typeface="Times New Roman" panose="02020603050405020304" pitchFamily="18" charset="0"/>
              </a:rPr>
              <a:t>: Manages user registration and login so that only authorized users can access the system.</a:t>
            </a:r>
          </a:p>
          <a:p>
            <a:r>
              <a:rPr lang="en-US" sz="2000" b="1" dirty="0">
                <a:latin typeface="Times New Roman" panose="02020603050405020304" pitchFamily="18" charset="0"/>
                <a:cs typeface="Times New Roman" panose="02020603050405020304" pitchFamily="18" charset="0"/>
              </a:rPr>
              <a:t>User Input Module</a:t>
            </a:r>
            <a:r>
              <a:rPr lang="en-US" sz="2000" dirty="0">
                <a:latin typeface="Times New Roman" panose="02020603050405020304" pitchFamily="18" charset="0"/>
                <a:cs typeface="Times New Roman" panose="02020603050405020304" pitchFamily="18" charset="0"/>
              </a:rPr>
              <a:t>: Allows users to enter personal details and symptoms required for vitamin deficiency analysis.</a:t>
            </a:r>
          </a:p>
          <a:p>
            <a:r>
              <a:rPr lang="en-US" sz="2000" b="1" dirty="0">
                <a:latin typeface="Times New Roman" panose="02020603050405020304" pitchFamily="18" charset="0"/>
                <a:cs typeface="Times New Roman" panose="02020603050405020304" pitchFamily="18" charset="0"/>
              </a:rPr>
              <a:t>Prediction Module</a:t>
            </a:r>
            <a:r>
              <a:rPr lang="en-US" sz="2000" dirty="0">
                <a:latin typeface="Times New Roman" panose="02020603050405020304" pitchFamily="18" charset="0"/>
                <a:cs typeface="Times New Roman" panose="02020603050405020304" pitchFamily="18" charset="0"/>
              </a:rPr>
              <a:t>: Uses the Random Forest algorithm to analyze input data and predict the type of vitamin deficiency.</a:t>
            </a:r>
          </a:p>
          <a:p>
            <a:r>
              <a:rPr lang="en-US" sz="2000" b="1" dirty="0">
                <a:latin typeface="Times New Roman" panose="02020603050405020304" pitchFamily="18" charset="0"/>
                <a:cs typeface="Times New Roman" panose="02020603050405020304" pitchFamily="18" charset="0"/>
              </a:rPr>
              <a:t>Result Display Module</a:t>
            </a:r>
            <a:r>
              <a:rPr lang="en-US" sz="2000" dirty="0">
                <a:latin typeface="Times New Roman" panose="02020603050405020304" pitchFamily="18" charset="0"/>
                <a:cs typeface="Times New Roman" panose="02020603050405020304" pitchFamily="18" charset="0"/>
              </a:rPr>
              <a:t>: Displays the predicted deficiency along with clinical explanation and risk level.</a:t>
            </a:r>
          </a:p>
          <a:p>
            <a:r>
              <a:rPr lang="en-US" sz="2000" b="1" dirty="0">
                <a:latin typeface="Times New Roman" panose="02020603050405020304" pitchFamily="18" charset="0"/>
                <a:cs typeface="Times New Roman" panose="02020603050405020304" pitchFamily="18" charset="0"/>
              </a:rPr>
              <a:t>Recommendation Module</a:t>
            </a:r>
            <a:r>
              <a:rPr lang="en-US" sz="2000" dirty="0">
                <a:latin typeface="Times New Roman" panose="02020603050405020304" pitchFamily="18" charset="0"/>
                <a:cs typeface="Times New Roman" panose="02020603050405020304" pitchFamily="18" charset="0"/>
              </a:rPr>
              <a:t>: Provides dietary suggestions and basic medical advice based on the predicted deficiency.</a:t>
            </a:r>
          </a:p>
          <a:p>
            <a:r>
              <a:rPr lang="en-US" sz="2000" b="1" dirty="0">
                <a:latin typeface="Times New Roman" panose="02020603050405020304" pitchFamily="18" charset="0"/>
                <a:cs typeface="Times New Roman" panose="02020603050405020304" pitchFamily="18" charset="0"/>
              </a:rPr>
              <a:t>Report Generation Module</a:t>
            </a:r>
            <a:r>
              <a:rPr lang="en-US" sz="2000" dirty="0">
                <a:latin typeface="Times New Roman" panose="02020603050405020304" pitchFamily="18" charset="0"/>
                <a:cs typeface="Times New Roman" panose="02020603050405020304" pitchFamily="18" charset="0"/>
              </a:rPr>
              <a:t>: Generates and allows users to download the prediction report for future reference.</a:t>
            </a:r>
          </a:p>
          <a:p>
            <a:r>
              <a:rPr lang="en-US" sz="2000" b="1" dirty="0">
                <a:latin typeface="Times New Roman" panose="02020603050405020304" pitchFamily="18" charset="0"/>
                <a:cs typeface="Times New Roman" panose="02020603050405020304" pitchFamily="18" charset="0"/>
              </a:rPr>
              <a:t>Database Module</a:t>
            </a:r>
            <a:r>
              <a:rPr lang="en-US" sz="2000" dirty="0">
                <a:latin typeface="Times New Roman" panose="02020603050405020304" pitchFamily="18" charset="0"/>
                <a:cs typeface="Times New Roman" panose="02020603050405020304" pitchFamily="18" charset="0"/>
              </a:rPr>
              <a:t>: Stores user information and prediction history for efficient data management and retrieval.</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7314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0DCAD-3744-9A44-8924-BE0C93E7D14A}"/>
              </a:ext>
            </a:extLst>
          </p:cNvPr>
          <p:cNvSpPr>
            <a:spLocks noGrp="1"/>
          </p:cNvSpPr>
          <p:nvPr>
            <p:ph type="title"/>
          </p:nvPr>
        </p:nvSpPr>
        <p:spPr>
          <a:xfrm>
            <a:off x="183831" y="289560"/>
            <a:ext cx="10018713" cy="462280"/>
          </a:xfrm>
        </p:spPr>
        <p:txBody>
          <a:bodyPr>
            <a:normAutofit fontScale="90000"/>
          </a:bodyPr>
          <a:lstStyle/>
          <a:p>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DATAFLOW DIAGRAM</a:t>
            </a:r>
          </a:p>
        </p:txBody>
      </p:sp>
      <p:pic>
        <p:nvPicPr>
          <p:cNvPr id="5" name="Content Placeholder 4">
            <a:extLst>
              <a:ext uri="{FF2B5EF4-FFF2-40B4-BE49-F238E27FC236}">
                <a16:creationId xmlns:a16="http://schemas.microsoft.com/office/drawing/2014/main" id="{82305358-F610-9A2E-BBAA-C2AF67417E68}"/>
              </a:ext>
            </a:extLst>
          </p:cNvPr>
          <p:cNvPicPr>
            <a:picLocks noGrp="1" noChangeAspect="1"/>
          </p:cNvPicPr>
          <p:nvPr>
            <p:ph idx="1"/>
          </p:nvPr>
        </p:nvPicPr>
        <p:blipFill>
          <a:blip r:embed="rId2"/>
          <a:stretch>
            <a:fillRect/>
          </a:stretch>
        </p:blipFill>
        <p:spPr>
          <a:xfrm>
            <a:off x="1838960" y="1615440"/>
            <a:ext cx="8138159" cy="4541520"/>
          </a:xfrm>
          <a:prstGeom prst="rect">
            <a:avLst/>
          </a:prstGeom>
        </p:spPr>
      </p:pic>
    </p:spTree>
    <p:extLst>
      <p:ext uri="{BB962C8B-B14F-4D97-AF65-F5344CB8AC3E}">
        <p14:creationId xmlns:p14="http://schemas.microsoft.com/office/powerpoint/2010/main" val="2483644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8E485-67F8-723B-22D0-B2F205DA12F7}"/>
              </a:ext>
            </a:extLst>
          </p:cNvPr>
          <p:cNvSpPr>
            <a:spLocks noGrp="1"/>
          </p:cNvSpPr>
          <p:nvPr>
            <p:ph type="title"/>
          </p:nvPr>
        </p:nvSpPr>
        <p:spPr>
          <a:xfrm>
            <a:off x="-679769" y="0"/>
            <a:ext cx="10018713" cy="1752599"/>
          </a:xfrm>
        </p:spPr>
        <p:txBody>
          <a:bodyPr/>
          <a:lstStyle/>
          <a:p>
            <a:r>
              <a:rPr lang="en-IN" b="1" dirty="0">
                <a:latin typeface="Times New Roman" panose="02020603050405020304" pitchFamily="18" charset="0"/>
                <a:cs typeface="Times New Roman" panose="02020603050405020304" pitchFamily="18" charset="0"/>
              </a:rPr>
              <a:t>ER DIAGRAM</a:t>
            </a:r>
          </a:p>
        </p:txBody>
      </p:sp>
      <p:sp>
        <p:nvSpPr>
          <p:cNvPr id="3" name="Content Placeholder 2">
            <a:extLst>
              <a:ext uri="{FF2B5EF4-FFF2-40B4-BE49-F238E27FC236}">
                <a16:creationId xmlns:a16="http://schemas.microsoft.com/office/drawing/2014/main" id="{BD6DBB3E-7377-1DF0-12CB-9A02A7676C2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918702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BA2CF-43E8-1F7F-C52B-9BB7936DB026}"/>
              </a:ext>
            </a:extLst>
          </p:cNvPr>
          <p:cNvSpPr>
            <a:spLocks noGrp="1"/>
          </p:cNvSpPr>
          <p:nvPr>
            <p:ph type="title"/>
          </p:nvPr>
        </p:nvSpPr>
        <p:spPr>
          <a:xfrm>
            <a:off x="1484310" y="1"/>
            <a:ext cx="8025449" cy="1717040"/>
          </a:xfrm>
        </p:spPr>
        <p:txBody>
          <a:bodyPr/>
          <a:lstStyle/>
          <a:p>
            <a:r>
              <a:rPr lang="en-IN" b="1" dirty="0">
                <a:latin typeface="Times New Roman" panose="02020603050405020304" pitchFamily="18" charset="0"/>
                <a:cs typeface="Times New Roman" panose="02020603050405020304" pitchFamily="18" charset="0"/>
              </a:rPr>
              <a:t>USECASE DIAGRAM </a:t>
            </a:r>
          </a:p>
        </p:txBody>
      </p:sp>
      <p:pic>
        <p:nvPicPr>
          <p:cNvPr id="5" name="Content Placeholder 4">
            <a:extLst>
              <a:ext uri="{FF2B5EF4-FFF2-40B4-BE49-F238E27FC236}">
                <a16:creationId xmlns:a16="http://schemas.microsoft.com/office/drawing/2014/main" id="{891456F8-6D92-078E-5BD6-D9EE074A0B14}"/>
              </a:ext>
            </a:extLst>
          </p:cNvPr>
          <p:cNvPicPr>
            <a:picLocks noGrp="1" noChangeAspect="1"/>
          </p:cNvPicPr>
          <p:nvPr>
            <p:ph idx="1"/>
          </p:nvPr>
        </p:nvPicPr>
        <p:blipFill>
          <a:blip r:embed="rId2"/>
          <a:stretch>
            <a:fillRect/>
          </a:stretch>
        </p:blipFill>
        <p:spPr>
          <a:xfrm>
            <a:off x="2915920" y="1717041"/>
            <a:ext cx="6390640" cy="4632960"/>
          </a:xfrm>
          <a:prstGeom prst="rect">
            <a:avLst/>
          </a:prstGeom>
        </p:spPr>
      </p:pic>
    </p:spTree>
    <p:extLst>
      <p:ext uri="{BB962C8B-B14F-4D97-AF65-F5344CB8AC3E}">
        <p14:creationId xmlns:p14="http://schemas.microsoft.com/office/powerpoint/2010/main" val="33409710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F5EDC-963F-1D58-9E11-C728BF888C97}"/>
              </a:ext>
            </a:extLst>
          </p:cNvPr>
          <p:cNvSpPr>
            <a:spLocks noGrp="1"/>
          </p:cNvSpPr>
          <p:nvPr>
            <p:ph type="title"/>
          </p:nvPr>
        </p:nvSpPr>
        <p:spPr>
          <a:xfrm>
            <a:off x="-1401129" y="-81279"/>
            <a:ext cx="10880409" cy="1290320"/>
          </a:xfrm>
        </p:spPr>
        <p:txBody>
          <a:bodyPr/>
          <a:lstStyle/>
          <a:p>
            <a:r>
              <a:rPr lang="en-IN" b="1" dirty="0">
                <a:latin typeface="Times New Roman" panose="02020603050405020304" pitchFamily="18" charset="0"/>
                <a:cs typeface="Times New Roman" panose="02020603050405020304" pitchFamily="18" charset="0"/>
              </a:rPr>
              <a:t>CLASS DIAGRAM </a:t>
            </a:r>
          </a:p>
        </p:txBody>
      </p:sp>
      <p:pic>
        <p:nvPicPr>
          <p:cNvPr id="10" name="Content Placeholder 9">
            <a:extLst>
              <a:ext uri="{FF2B5EF4-FFF2-40B4-BE49-F238E27FC236}">
                <a16:creationId xmlns:a16="http://schemas.microsoft.com/office/drawing/2014/main" id="{9B480B4D-8C2A-C0D1-EF96-FC01ADBD58AA}"/>
              </a:ext>
            </a:extLst>
          </p:cNvPr>
          <p:cNvPicPr>
            <a:picLocks noGrp="1" noChangeAspect="1"/>
          </p:cNvPicPr>
          <p:nvPr>
            <p:ph idx="1"/>
          </p:nvPr>
        </p:nvPicPr>
        <p:blipFill>
          <a:blip r:embed="rId2"/>
          <a:stretch>
            <a:fillRect/>
          </a:stretch>
        </p:blipFill>
        <p:spPr>
          <a:xfrm>
            <a:off x="2062480" y="1209040"/>
            <a:ext cx="7579360" cy="5364480"/>
          </a:xfrm>
          <a:prstGeom prst="rect">
            <a:avLst/>
          </a:prstGeom>
        </p:spPr>
      </p:pic>
    </p:spTree>
    <p:extLst>
      <p:ext uri="{BB962C8B-B14F-4D97-AF65-F5344CB8AC3E}">
        <p14:creationId xmlns:p14="http://schemas.microsoft.com/office/powerpoint/2010/main" val="41954089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60BDB-D7CD-DB24-ED9B-463663B0F71A}"/>
              </a:ext>
            </a:extLst>
          </p:cNvPr>
          <p:cNvSpPr>
            <a:spLocks noGrp="1"/>
          </p:cNvSpPr>
          <p:nvPr>
            <p:ph type="title"/>
          </p:nvPr>
        </p:nvSpPr>
        <p:spPr>
          <a:xfrm>
            <a:off x="233681" y="-86359"/>
            <a:ext cx="10018714" cy="1143000"/>
          </a:xfrm>
        </p:spPr>
        <p:txBody>
          <a:bodyPr/>
          <a:lstStyle/>
          <a:p>
            <a:r>
              <a:rPr lang="en-IN" b="1" dirty="0">
                <a:latin typeface="Times New Roman" panose="02020603050405020304" pitchFamily="18" charset="0"/>
                <a:cs typeface="Times New Roman" panose="02020603050405020304" pitchFamily="18" charset="0"/>
              </a:rPr>
              <a:t>SEQUENCE DIAGRAM</a:t>
            </a:r>
          </a:p>
        </p:txBody>
      </p:sp>
      <p:pic>
        <p:nvPicPr>
          <p:cNvPr id="9" name="Content Placeholder 8">
            <a:extLst>
              <a:ext uri="{FF2B5EF4-FFF2-40B4-BE49-F238E27FC236}">
                <a16:creationId xmlns:a16="http://schemas.microsoft.com/office/drawing/2014/main" id="{26151A2B-B4EA-0512-B5DB-B7E79A41792B}"/>
              </a:ext>
            </a:extLst>
          </p:cNvPr>
          <p:cNvPicPr>
            <a:picLocks noGrp="1" noChangeAspect="1"/>
          </p:cNvPicPr>
          <p:nvPr>
            <p:ph idx="1"/>
          </p:nvPr>
        </p:nvPicPr>
        <p:blipFill>
          <a:blip r:embed="rId2"/>
          <a:stretch>
            <a:fillRect/>
          </a:stretch>
        </p:blipFill>
        <p:spPr>
          <a:xfrm>
            <a:off x="2164080" y="1219200"/>
            <a:ext cx="9682480" cy="5283200"/>
          </a:xfrm>
          <a:prstGeom prst="rect">
            <a:avLst/>
          </a:prstGeom>
        </p:spPr>
      </p:pic>
    </p:spTree>
    <p:extLst>
      <p:ext uri="{BB962C8B-B14F-4D97-AF65-F5344CB8AC3E}">
        <p14:creationId xmlns:p14="http://schemas.microsoft.com/office/powerpoint/2010/main" val="23278007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F71DE-CCC8-5A46-EA18-060251332A0A}"/>
              </a:ext>
            </a:extLst>
          </p:cNvPr>
          <p:cNvSpPr>
            <a:spLocks noGrp="1"/>
          </p:cNvSpPr>
          <p:nvPr>
            <p:ph type="title"/>
          </p:nvPr>
        </p:nvSpPr>
        <p:spPr>
          <a:xfrm>
            <a:off x="-214603" y="-167148"/>
            <a:ext cx="11717628" cy="1209367"/>
          </a:xfrm>
        </p:spPr>
        <p:txBody>
          <a:bodyPr/>
          <a:lstStyle/>
          <a:p>
            <a:r>
              <a:rPr lang="en-IN" b="1" dirty="0">
                <a:latin typeface="Times New Roman" panose="02020603050405020304" pitchFamily="18" charset="0"/>
                <a:cs typeface="Times New Roman" panose="02020603050405020304" pitchFamily="18" charset="0"/>
              </a:rPr>
              <a:t>ALGORITHMS USED</a:t>
            </a:r>
          </a:p>
        </p:txBody>
      </p:sp>
      <p:sp>
        <p:nvSpPr>
          <p:cNvPr id="3" name="Content Placeholder 2">
            <a:extLst>
              <a:ext uri="{FF2B5EF4-FFF2-40B4-BE49-F238E27FC236}">
                <a16:creationId xmlns:a16="http://schemas.microsoft.com/office/drawing/2014/main" id="{EB00D414-4431-1864-9774-7789C5EF944B}"/>
              </a:ext>
            </a:extLst>
          </p:cNvPr>
          <p:cNvSpPr>
            <a:spLocks noGrp="1"/>
          </p:cNvSpPr>
          <p:nvPr>
            <p:ph idx="1"/>
          </p:nvPr>
        </p:nvSpPr>
        <p:spPr>
          <a:xfrm>
            <a:off x="2084077" y="845573"/>
            <a:ext cx="10018713" cy="6268065"/>
          </a:xfrm>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Random Forest-Based Vitamin Deficiency Prediction</a:t>
            </a:r>
          </a:p>
          <a:p>
            <a:r>
              <a:rPr lang="en-US" sz="1800" dirty="0">
                <a:latin typeface="Times New Roman" panose="02020603050405020304" pitchFamily="18" charset="0"/>
                <a:cs typeface="Times New Roman" panose="02020603050405020304" pitchFamily="18" charset="0"/>
              </a:rPr>
              <a:t>Step 1: Data Collection Users enter personal details (age, gender, diet type) and symptoms (fatigue, dry eyes, bleeding gums, etc.) through the web application.</a:t>
            </a:r>
          </a:p>
          <a:p>
            <a:r>
              <a:rPr lang="en-US" sz="1800" dirty="0">
                <a:latin typeface="Times New Roman" panose="02020603050405020304" pitchFamily="18" charset="0"/>
                <a:cs typeface="Times New Roman" panose="02020603050405020304" pitchFamily="18" charset="0"/>
              </a:rPr>
              <a:t>Step 2: Data Pre-Processing The input data is cleaned and converted into numerical format (e.g., Yes/No → 1/0). Missing or invalid values are handled to ensure accuracy.</a:t>
            </a:r>
          </a:p>
          <a:p>
            <a:r>
              <a:rPr lang="en-US" sz="1800" dirty="0">
                <a:latin typeface="Times New Roman" panose="02020603050405020304" pitchFamily="18" charset="0"/>
                <a:cs typeface="Times New Roman" panose="02020603050405020304" pitchFamily="18" charset="0"/>
              </a:rPr>
              <a:t>Step 3: Feature Selection Important features such as symptoms and lifestyle factors are selected to improve prediction performance and reduce unnecessary data.</a:t>
            </a:r>
          </a:p>
          <a:p>
            <a:r>
              <a:rPr lang="en-US" sz="1800" dirty="0">
                <a:latin typeface="Times New Roman" panose="02020603050405020304" pitchFamily="18" charset="0"/>
                <a:cs typeface="Times New Roman" panose="02020603050405020304" pitchFamily="18" charset="0"/>
              </a:rPr>
              <a:t>Step 4: Model Training (Random Forest)The dataset is used to train multiple decision trees. Each tree is trained using random subsets of data and features.</a:t>
            </a:r>
          </a:p>
          <a:p>
            <a:r>
              <a:rPr lang="en-US" sz="1800" dirty="0">
                <a:latin typeface="Times New Roman" panose="02020603050405020304" pitchFamily="18" charset="0"/>
                <a:cs typeface="Times New Roman" panose="02020603050405020304" pitchFamily="18" charset="0"/>
              </a:rPr>
              <a:t>Step 5: Prediction Process User input is passed to all decision trees in the Random Forest model for classification.</a:t>
            </a:r>
          </a:p>
          <a:p>
            <a:r>
              <a:rPr lang="en-US" sz="1800" dirty="0">
                <a:latin typeface="Times New Roman" panose="02020603050405020304" pitchFamily="18" charset="0"/>
                <a:cs typeface="Times New Roman" panose="02020603050405020304" pitchFamily="18" charset="0"/>
              </a:rPr>
              <a:t>Step 6: Voting Mechanism Each decision tree gives a prediction, and the final result is determined based on majority voting.</a:t>
            </a:r>
          </a:p>
          <a:p>
            <a:r>
              <a:rPr lang="en-US" sz="1800" dirty="0">
                <a:latin typeface="Times New Roman" panose="02020603050405020304" pitchFamily="18" charset="0"/>
                <a:cs typeface="Times New Roman" panose="02020603050405020304" pitchFamily="18" charset="0"/>
              </a:rPr>
              <a:t>Step 7: Result Generation The system predicts the type of vitamin deficiency (e.g., Iron, Vitamin D) along with risk level.</a:t>
            </a:r>
          </a:p>
          <a:p>
            <a:r>
              <a:rPr lang="en-US" sz="1800" dirty="0">
                <a:latin typeface="Times New Roman" panose="02020603050405020304" pitchFamily="18" charset="0"/>
                <a:cs typeface="Times New Roman" panose="02020603050405020304" pitchFamily="18" charset="0"/>
              </a:rPr>
              <a:t>Step 8: Recommendation Output Based on prediction, the system provides dietary suggestions and medical advice to the user.</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3543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EF3CD-9F37-CC94-A064-97FFF940465F}"/>
              </a:ext>
            </a:extLst>
          </p:cNvPr>
          <p:cNvSpPr>
            <a:spLocks noGrp="1"/>
          </p:cNvSpPr>
          <p:nvPr>
            <p:ph type="title"/>
          </p:nvPr>
        </p:nvSpPr>
        <p:spPr>
          <a:xfrm>
            <a:off x="-1669437" y="-402772"/>
            <a:ext cx="10018713" cy="2062065"/>
          </a:xfrm>
        </p:spPr>
        <p:txBody>
          <a:bodyPr/>
          <a:lstStyle/>
          <a:p>
            <a:r>
              <a:rPr lang="en-IN" b="1" dirty="0">
                <a:latin typeface="Times New Roman" panose="02020603050405020304" pitchFamily="18" charset="0"/>
                <a:cs typeface="Times New Roman" panose="02020603050405020304" pitchFamily="18" charset="0"/>
              </a:rPr>
              <a:t>RESULT</a:t>
            </a:r>
          </a:p>
        </p:txBody>
      </p:sp>
      <p:pic>
        <p:nvPicPr>
          <p:cNvPr id="6" name="Content Placeholder 5">
            <a:extLst>
              <a:ext uri="{FF2B5EF4-FFF2-40B4-BE49-F238E27FC236}">
                <a16:creationId xmlns:a16="http://schemas.microsoft.com/office/drawing/2014/main" id="{36C22349-2BED-E4EF-3E07-EAF748938CF6}"/>
              </a:ext>
            </a:extLst>
          </p:cNvPr>
          <p:cNvPicPr>
            <a:picLocks noGrp="1" noChangeAspect="1"/>
          </p:cNvPicPr>
          <p:nvPr>
            <p:ph idx="1"/>
          </p:nvPr>
        </p:nvPicPr>
        <p:blipFill>
          <a:blip r:embed="rId2"/>
          <a:stretch>
            <a:fillRect/>
          </a:stretch>
        </p:blipFill>
        <p:spPr>
          <a:xfrm>
            <a:off x="1329975" y="1024809"/>
            <a:ext cx="5693480" cy="2925148"/>
          </a:xfrm>
          <a:prstGeom prst="rect">
            <a:avLst/>
          </a:prstGeom>
        </p:spPr>
      </p:pic>
      <p:pic>
        <p:nvPicPr>
          <p:cNvPr id="8" name="Picture 7">
            <a:extLst>
              <a:ext uri="{FF2B5EF4-FFF2-40B4-BE49-F238E27FC236}">
                <a16:creationId xmlns:a16="http://schemas.microsoft.com/office/drawing/2014/main" id="{78760EF9-4049-FE13-7325-915E4AC503A4}"/>
              </a:ext>
            </a:extLst>
          </p:cNvPr>
          <p:cNvPicPr>
            <a:picLocks noChangeAspect="1"/>
          </p:cNvPicPr>
          <p:nvPr/>
        </p:nvPicPr>
        <p:blipFill>
          <a:blip r:embed="rId3"/>
          <a:stretch>
            <a:fillRect/>
          </a:stretch>
        </p:blipFill>
        <p:spPr>
          <a:xfrm>
            <a:off x="7023455" y="1074572"/>
            <a:ext cx="5065908" cy="2825622"/>
          </a:xfrm>
          <a:prstGeom prst="rect">
            <a:avLst/>
          </a:prstGeom>
        </p:spPr>
      </p:pic>
      <p:pic>
        <p:nvPicPr>
          <p:cNvPr id="10" name="Picture 9">
            <a:extLst>
              <a:ext uri="{FF2B5EF4-FFF2-40B4-BE49-F238E27FC236}">
                <a16:creationId xmlns:a16="http://schemas.microsoft.com/office/drawing/2014/main" id="{7C69A579-9CDD-CAA3-E672-E08769F6C4B9}"/>
              </a:ext>
            </a:extLst>
          </p:cNvPr>
          <p:cNvPicPr>
            <a:picLocks noChangeAspect="1"/>
          </p:cNvPicPr>
          <p:nvPr/>
        </p:nvPicPr>
        <p:blipFill>
          <a:blip r:embed="rId4"/>
          <a:stretch>
            <a:fillRect/>
          </a:stretch>
        </p:blipFill>
        <p:spPr>
          <a:xfrm>
            <a:off x="1432900" y="4073585"/>
            <a:ext cx="5328683" cy="2607906"/>
          </a:xfrm>
          <a:prstGeom prst="rect">
            <a:avLst/>
          </a:prstGeom>
        </p:spPr>
      </p:pic>
      <p:pic>
        <p:nvPicPr>
          <p:cNvPr id="12" name="Picture 11">
            <a:extLst>
              <a:ext uri="{FF2B5EF4-FFF2-40B4-BE49-F238E27FC236}">
                <a16:creationId xmlns:a16="http://schemas.microsoft.com/office/drawing/2014/main" id="{EEDDF352-32BD-5600-5C1E-71B2F2197F04}"/>
              </a:ext>
            </a:extLst>
          </p:cNvPr>
          <p:cNvPicPr>
            <a:picLocks noChangeAspect="1"/>
          </p:cNvPicPr>
          <p:nvPr/>
        </p:nvPicPr>
        <p:blipFill>
          <a:blip r:embed="rId5"/>
          <a:stretch>
            <a:fillRect/>
          </a:stretch>
        </p:blipFill>
        <p:spPr>
          <a:xfrm>
            <a:off x="6826897" y="3978727"/>
            <a:ext cx="5262466" cy="2715209"/>
          </a:xfrm>
          <a:prstGeom prst="rect">
            <a:avLst/>
          </a:prstGeom>
        </p:spPr>
      </p:pic>
    </p:spTree>
    <p:extLst>
      <p:ext uri="{BB962C8B-B14F-4D97-AF65-F5344CB8AC3E}">
        <p14:creationId xmlns:p14="http://schemas.microsoft.com/office/powerpoint/2010/main" val="1839927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5FD7A7-F21B-FE23-CAF4-8EB7C4718052}"/>
              </a:ext>
            </a:extLst>
          </p:cNvPr>
          <p:cNvPicPr>
            <a:picLocks noChangeAspect="1"/>
          </p:cNvPicPr>
          <p:nvPr/>
        </p:nvPicPr>
        <p:blipFill>
          <a:blip r:embed="rId2"/>
          <a:stretch>
            <a:fillRect/>
          </a:stretch>
        </p:blipFill>
        <p:spPr>
          <a:xfrm>
            <a:off x="1538928" y="593733"/>
            <a:ext cx="4810086" cy="2301634"/>
          </a:xfrm>
          <a:prstGeom prst="rect">
            <a:avLst/>
          </a:prstGeom>
        </p:spPr>
      </p:pic>
      <p:pic>
        <p:nvPicPr>
          <p:cNvPr id="5" name="Picture 4">
            <a:extLst>
              <a:ext uri="{FF2B5EF4-FFF2-40B4-BE49-F238E27FC236}">
                <a16:creationId xmlns:a16="http://schemas.microsoft.com/office/drawing/2014/main" id="{CF12EDDF-C574-7745-3E26-97D28F082927}"/>
              </a:ext>
            </a:extLst>
          </p:cNvPr>
          <p:cNvPicPr>
            <a:picLocks noChangeAspect="1"/>
          </p:cNvPicPr>
          <p:nvPr/>
        </p:nvPicPr>
        <p:blipFill>
          <a:blip r:embed="rId3"/>
          <a:stretch>
            <a:fillRect/>
          </a:stretch>
        </p:blipFill>
        <p:spPr>
          <a:xfrm>
            <a:off x="6590522" y="502687"/>
            <a:ext cx="5059680" cy="2392680"/>
          </a:xfrm>
          <a:prstGeom prst="rect">
            <a:avLst/>
          </a:prstGeom>
        </p:spPr>
      </p:pic>
      <p:pic>
        <p:nvPicPr>
          <p:cNvPr id="7" name="Picture 6">
            <a:extLst>
              <a:ext uri="{FF2B5EF4-FFF2-40B4-BE49-F238E27FC236}">
                <a16:creationId xmlns:a16="http://schemas.microsoft.com/office/drawing/2014/main" id="{FABD5D36-A2EB-747F-408B-0C4224B49700}"/>
              </a:ext>
            </a:extLst>
          </p:cNvPr>
          <p:cNvPicPr>
            <a:picLocks noChangeAspect="1"/>
          </p:cNvPicPr>
          <p:nvPr/>
        </p:nvPicPr>
        <p:blipFill>
          <a:blip r:embed="rId4"/>
          <a:stretch>
            <a:fillRect/>
          </a:stretch>
        </p:blipFill>
        <p:spPr>
          <a:xfrm>
            <a:off x="1082043" y="3429000"/>
            <a:ext cx="3912870" cy="2727960"/>
          </a:xfrm>
          <a:prstGeom prst="rect">
            <a:avLst/>
          </a:prstGeom>
        </p:spPr>
      </p:pic>
      <p:pic>
        <p:nvPicPr>
          <p:cNvPr id="9" name="Picture 8">
            <a:extLst>
              <a:ext uri="{FF2B5EF4-FFF2-40B4-BE49-F238E27FC236}">
                <a16:creationId xmlns:a16="http://schemas.microsoft.com/office/drawing/2014/main" id="{DB5D4631-CE6D-7310-2988-A39E51AF4D1D}"/>
              </a:ext>
            </a:extLst>
          </p:cNvPr>
          <p:cNvPicPr>
            <a:picLocks noChangeAspect="1"/>
          </p:cNvPicPr>
          <p:nvPr/>
        </p:nvPicPr>
        <p:blipFill>
          <a:blip r:embed="rId5"/>
          <a:stretch>
            <a:fillRect/>
          </a:stretch>
        </p:blipFill>
        <p:spPr>
          <a:xfrm>
            <a:off x="5046348" y="3359953"/>
            <a:ext cx="3528057" cy="2727960"/>
          </a:xfrm>
          <a:prstGeom prst="rect">
            <a:avLst/>
          </a:prstGeom>
        </p:spPr>
      </p:pic>
      <p:pic>
        <p:nvPicPr>
          <p:cNvPr id="11" name="Picture 10">
            <a:extLst>
              <a:ext uri="{FF2B5EF4-FFF2-40B4-BE49-F238E27FC236}">
                <a16:creationId xmlns:a16="http://schemas.microsoft.com/office/drawing/2014/main" id="{E870BC84-1EAB-FA78-1139-7049D567658D}"/>
              </a:ext>
            </a:extLst>
          </p:cNvPr>
          <p:cNvPicPr>
            <a:picLocks noChangeAspect="1"/>
          </p:cNvPicPr>
          <p:nvPr/>
        </p:nvPicPr>
        <p:blipFill>
          <a:blip r:embed="rId6"/>
          <a:stretch>
            <a:fillRect/>
          </a:stretch>
        </p:blipFill>
        <p:spPr>
          <a:xfrm>
            <a:off x="8700485" y="3257317"/>
            <a:ext cx="3329940" cy="2727960"/>
          </a:xfrm>
          <a:prstGeom prst="rect">
            <a:avLst/>
          </a:prstGeom>
        </p:spPr>
      </p:pic>
    </p:spTree>
    <p:extLst>
      <p:ext uri="{BB962C8B-B14F-4D97-AF65-F5344CB8AC3E}">
        <p14:creationId xmlns:p14="http://schemas.microsoft.com/office/powerpoint/2010/main" val="2495398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223D7-CDE6-60BE-8A48-B278BC8C3D34}"/>
              </a:ext>
            </a:extLst>
          </p:cNvPr>
          <p:cNvSpPr>
            <a:spLocks noGrp="1"/>
          </p:cNvSpPr>
          <p:nvPr>
            <p:ph type="title"/>
          </p:nvPr>
        </p:nvSpPr>
        <p:spPr>
          <a:xfrm>
            <a:off x="-513183" y="0"/>
            <a:ext cx="9022702" cy="1426480"/>
          </a:xfrm>
        </p:spPr>
        <p:txBody>
          <a:bodyPr/>
          <a:lstStyle/>
          <a:p>
            <a:r>
              <a:rPr lang="en-US" b="1" dirty="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5425CD3-056F-E46F-2ED4-00BEBB598F06}"/>
              </a:ext>
            </a:extLst>
          </p:cNvPr>
          <p:cNvSpPr>
            <a:spLocks noGrp="1"/>
          </p:cNvSpPr>
          <p:nvPr>
            <p:ph idx="1"/>
          </p:nvPr>
        </p:nvSpPr>
        <p:spPr>
          <a:xfrm>
            <a:off x="1484310" y="867746"/>
            <a:ext cx="10552180" cy="5038531"/>
          </a:xfrm>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The Vita Predict system shows how machine learning can be used in healthcare to detect vitamin deficiencies. It analyzes user symptoms and basic details to give accurate predictions using the Random Forest algorithm. The system provides a user-friendly web interface where users can easily register, log in, and enter their symptoms. Based on the input, it gives results such as deficiency prediction, explanation, risk level, diet suggestions, and basic medical advice. This helps users understand their health condition and take early preventive steps. One major advantage of this system is that it provides instant results without the need for medical tests, making it useful for basic health screening. It also reduces dependency on manual diagnosis and gives quick health insights. Overall, the system is efficient, easy to use, and helpful for early detection of vitamin deficiencies. In the future, it can be improved by adding more advanced models, real-time data, and additional health features.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83262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7F823-86D4-F907-E824-B56C97706813}"/>
              </a:ext>
            </a:extLst>
          </p:cNvPr>
          <p:cNvSpPr>
            <a:spLocks noGrp="1"/>
          </p:cNvSpPr>
          <p:nvPr>
            <p:ph type="title"/>
          </p:nvPr>
        </p:nvSpPr>
        <p:spPr>
          <a:xfrm>
            <a:off x="-905069" y="0"/>
            <a:ext cx="10485987" cy="1526333"/>
          </a:xfrm>
        </p:spPr>
        <p:txBody>
          <a:bodyPr/>
          <a:lstStyle/>
          <a:p>
            <a:r>
              <a:rPr lang="en-IN"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98931B6B-CFCC-8F22-A5A2-1265EDD08286}"/>
              </a:ext>
            </a:extLst>
          </p:cNvPr>
          <p:cNvSpPr>
            <a:spLocks noGrp="1"/>
          </p:cNvSpPr>
          <p:nvPr>
            <p:ph idx="1"/>
          </p:nvPr>
        </p:nvSpPr>
        <p:spPr>
          <a:xfrm>
            <a:off x="1456318" y="2016967"/>
            <a:ext cx="10018713" cy="3740021"/>
          </a:xfrm>
        </p:spPr>
        <p:txBody>
          <a:bodyPr>
            <a:normAutofit fontScale="70000" lnSpcReduction="20000"/>
          </a:bodyPr>
          <a:lstStyle/>
          <a:p>
            <a:r>
              <a:rPr lang="en-IN" sz="3200" dirty="0">
                <a:latin typeface="Times New Roman" panose="02020603050405020304" pitchFamily="18" charset="0"/>
                <a:cs typeface="Times New Roman" panose="02020603050405020304" pitchFamily="18" charset="0"/>
              </a:rPr>
              <a:t>Breiman , L, “Random Forests,” Machine Learning, vol. 45, no. 1, pp. 5–32, 2001.</a:t>
            </a:r>
          </a:p>
          <a:p>
            <a:r>
              <a:rPr lang="en-IN" sz="3200" dirty="0">
                <a:latin typeface="Times New Roman" panose="02020603050405020304" pitchFamily="18" charset="0"/>
                <a:cs typeface="Times New Roman" panose="02020603050405020304" pitchFamily="18" charset="0"/>
              </a:rPr>
              <a:t>Pedregosa, F. et al., “Scikit-learn: Machine Learning in Python,” Journal of Machine Learning Research, vol. 12, pp. 2011.</a:t>
            </a:r>
          </a:p>
          <a:p>
            <a:r>
              <a:rPr lang="en-IN" sz="3200" dirty="0">
                <a:latin typeface="Times New Roman" panose="02020603050405020304" pitchFamily="18" charset="0"/>
                <a:cs typeface="Times New Roman" panose="02020603050405020304" pitchFamily="18" charset="0"/>
              </a:rPr>
              <a:t> Siva Jyothi, P. N., “Machine Learning System using Random Forest with Flask Integration,” 2024.</a:t>
            </a:r>
          </a:p>
          <a:p>
            <a:r>
              <a:rPr lang="en-IN" sz="3200" dirty="0">
                <a:latin typeface="Times New Roman" panose="02020603050405020304" pitchFamily="18" charset="0"/>
                <a:cs typeface="Times New Roman" panose="02020603050405020304" pitchFamily="18" charset="0"/>
              </a:rPr>
              <a:t> “Liver Cirrhosis Prediction using Random Forest,” IJCRT, 2025.[9:34 pm, 01/04/2026] :</a:t>
            </a:r>
          </a:p>
          <a:p>
            <a:r>
              <a:rPr lang="en-IN" sz="3200" dirty="0">
                <a:latin typeface="Times New Roman" panose="02020603050405020304" pitchFamily="18" charset="0"/>
                <a:cs typeface="Times New Roman" panose="02020603050405020304" pitchFamily="18" charset="0"/>
              </a:rPr>
              <a:t>  “Network Intru sion Detection using Random Forest and Flask,” IJSART, 2024.</a:t>
            </a:r>
          </a:p>
          <a:p>
            <a:r>
              <a:rPr lang="en-IN" sz="3200" dirty="0">
                <a:latin typeface="Times New Roman" panose="02020603050405020304" pitchFamily="18" charset="0"/>
                <a:cs typeface="Times New Roman" panose="02020603050405020304" pitchFamily="18" charset="0"/>
              </a:rPr>
              <a:t>  Louppe  G., “Understanding Random Forests: From Theory to Practice,” arXiv.</a:t>
            </a:r>
          </a:p>
          <a:p>
            <a:r>
              <a:rPr lang="en-IN" sz="3200" dirty="0">
                <a:latin typeface="Times New Roman" panose="02020603050405020304" pitchFamily="18" charset="0"/>
                <a:cs typeface="Times New Roman" panose="02020603050405020304" pitchFamily="18" charset="0"/>
              </a:rPr>
              <a:t> Haddouchi, M., “Survey on Random Forest Model Interpretability,” arXiv, 2024.</a:t>
            </a:r>
          </a:p>
          <a:p>
            <a:endParaRPr lang="en-IN" dirty="0"/>
          </a:p>
        </p:txBody>
      </p:sp>
    </p:spTree>
    <p:extLst>
      <p:ext uri="{BB962C8B-B14F-4D97-AF65-F5344CB8AC3E}">
        <p14:creationId xmlns:p14="http://schemas.microsoft.com/office/powerpoint/2010/main" val="7194524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FE261-4BF3-635B-67F0-4CFEEBFFBF14}"/>
              </a:ext>
            </a:extLst>
          </p:cNvPr>
          <p:cNvSpPr>
            <a:spLocks noGrp="1"/>
          </p:cNvSpPr>
          <p:nvPr>
            <p:ph type="title"/>
          </p:nvPr>
        </p:nvSpPr>
        <p:spPr>
          <a:xfrm>
            <a:off x="5330705" y="-1297577"/>
            <a:ext cx="7383809" cy="4824548"/>
          </a:xfrm>
        </p:spPr>
        <p:txBody>
          <a:bodyPr vert="horz" lIns="91440" tIns="45720" rIns="91440" bIns="45720" rtlCol="0" anchor="b">
            <a:normAutofit/>
          </a:bodyPr>
          <a:lstStyle/>
          <a:p>
            <a:r>
              <a:rPr lang="en-US" sz="4000" kern="1200" cap="all" spc="200" baseline="0" dirty="0">
                <a:solidFill>
                  <a:schemeClr val="tx1">
                    <a:lumMod val="85000"/>
                    <a:lumOff val="15000"/>
                  </a:schemeClr>
                </a:solidFill>
                <a:latin typeface="Times New Roman" panose="02020603050405020304" pitchFamily="18" charset="0"/>
                <a:cs typeface="Times New Roman" panose="02020603050405020304" pitchFamily="18" charset="0"/>
              </a:rPr>
              <a:t>THANK YOU</a:t>
            </a:r>
          </a:p>
        </p:txBody>
      </p:sp>
      <p:pic>
        <p:nvPicPr>
          <p:cNvPr id="6" name="Graphic 5" descr="Handshake">
            <a:extLst>
              <a:ext uri="{FF2B5EF4-FFF2-40B4-BE49-F238E27FC236}">
                <a16:creationId xmlns:a16="http://schemas.microsoft.com/office/drawing/2014/main" id="{7E80A25E-4F95-B8EB-ECD3-838B6568037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3999" y="1422615"/>
            <a:ext cx="3993942" cy="3993942"/>
          </a:xfrm>
          <a:prstGeom prst="rect">
            <a:avLst/>
          </a:prstGeom>
        </p:spPr>
      </p:pic>
    </p:spTree>
    <p:extLst>
      <p:ext uri="{BB962C8B-B14F-4D97-AF65-F5344CB8AC3E}">
        <p14:creationId xmlns:p14="http://schemas.microsoft.com/office/powerpoint/2010/main" val="3542751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1A9F9826-882C-40B9-8F38-5A3B8CFD19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TM03457496[[fn=Parallax]]</Template>
  <TotalTime>1221</TotalTime>
  <Words>1622</Words>
  <Application>Microsoft Office PowerPoint</Application>
  <PresentationFormat>Widescreen</PresentationFormat>
  <Paragraphs>90</Paragraphs>
  <Slides>21</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Arial</vt:lpstr>
      <vt:lpstr>Corbel</vt:lpstr>
      <vt:lpstr>Times New Roman</vt:lpstr>
      <vt:lpstr>Wingdings</vt:lpstr>
      <vt:lpstr>Parallax</vt:lpstr>
      <vt:lpstr>UNIVERSITY COLLEGE OF ENGINEERING  AND TECHNOLOGY FOR WOMEN  Vitamin Deficiency Detection System   </vt:lpstr>
      <vt:lpstr>CONTENTS</vt:lpstr>
      <vt:lpstr>ABSTRACT</vt:lpstr>
      <vt:lpstr>        INTRODUCTION</vt:lpstr>
      <vt:lpstr>           EXISTING SYSTEM</vt:lpstr>
      <vt:lpstr>             DISADVANTAGES</vt:lpstr>
      <vt:lpstr>         PROPOSED SYSTEM</vt:lpstr>
      <vt:lpstr>ADVANTAGES</vt:lpstr>
      <vt:lpstr>SYSTEM REQUIREMENTS</vt:lpstr>
      <vt:lpstr>MODULES</vt:lpstr>
      <vt:lpstr> DATAFLOW DIAGRAM</vt:lpstr>
      <vt:lpstr>ER DIAGRAM</vt:lpstr>
      <vt:lpstr>USECASE DIAGRAM </vt:lpstr>
      <vt:lpstr>CLASS DIAGRAM </vt:lpstr>
      <vt:lpstr>SEQUENCE DIAGRAM</vt:lpstr>
      <vt:lpstr>ALGORITHMS USED</vt:lpstr>
      <vt:lpstr>RESULT</vt:lpstr>
      <vt:lpstr>PowerPoint Presentation</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UNIVERSITY COLLEGE OF ENGINEERING  AND TECHNOLOGY FOR WOMEN   SLEEP APNEA DETECTION DETECTION USING DEEP LEARNING</dc:title>
  <dc:creator>jahnavi ranga</dc:creator>
  <cp:lastModifiedBy>Sneha Muthubai</cp:lastModifiedBy>
  <cp:revision>38</cp:revision>
  <dcterms:created xsi:type="dcterms:W3CDTF">2025-03-11T17:22:54Z</dcterms:created>
  <dcterms:modified xsi:type="dcterms:W3CDTF">2026-04-02T03:30:02Z</dcterms:modified>
</cp:coreProperties>
</file>